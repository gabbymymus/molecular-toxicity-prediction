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We predict the outcome of 12 Tox21 toxicity assays from a molecule's structure. Phase 1 is the classical machine learning baseline and the evaluation machinery; the graph neural network is Phase 2. Team: Raghav (data, splits, Logistic Regression), Ranajeet (features, Random Forest), Parrv (repository, evaluation harness, XGBoost, tuning and final test), Abhijeet (report and analysis); Malhar is Member 5 (QA and verification); the QA report documents the verification results. Source: README team table.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Tox21 gives a SMILES string and 12 binary assay labels per molecule. After cleaning (largest fragment, canonical SMILES, deduplication, conflicting labels set to missing) there are 7,709 unique molecules. A blank label means the compound was not tested on that assay, not that it is non-toxic, so missing labels stay NaN and every metric uses labeled rows only. 17.05% of all label cells are missing (computed from data/processed/tox21_clean.csv). Labeled molecules per endpoint run from 5,718 to 7,141. Positive rates run from 2.91% (NR-PPAR-gamma) to 15.94% (SR-ARE), so positives are rare. The figure is figures/eda_labels.png. Say clearly: we never fill missing labels with 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left to right. Raw Tox21 is cleaned to 7,709 molecules, then split 80/10/10 into 6,167 train, 771 validation and 771 test, with a scaffold split and a random split. Features are Morgan fingerprints, optionally plus RDKit descriptors. Tuning uses only the validation split. The winning configurations are written to best_configs.json and committed (commit 041892c) before the final test run. The test split is read only by scripts/04_final_test.py. Each stage has one make target: make data, features, tune, final-test, figures.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feature sets. morgan: 2,048-bit Morgan (ECFP4-like, radius 2) fingerprints. morgan+desc: the same plus RDKit 2D descriptors, 2,261 columns in total. There are 217 raw descriptors; 213 are retained after dropping three that are constant zero across all molecules (SMR_VSA8, SlogP_VSA9, fr_diazo) and fr_azide, which is near-constant in scaffold training. Descriptor cleaning (infinities, NaNs, scaling) is fit on the training rows only inside load_features(), so no validation or test information leaks. Numbers on NaN and infinite cells come from the feature notebook documented in the README (reported by the feature owner, Ranajeet).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models, one classifier per endpoint, trained on that endpoint's labeled training rows: Logistic Regression, Random Forest and XGBoost. Class imbalance: LR class_weight balanced, RF balanced_subsample, XGBoost scale_pos_weight = negatives / positives per endpoint. Tuning: 8 configurations per model and feature set, chosen by mean validation PR AUC across endpoints, seed 0, scaffold split; the chosen configuration is reused unchanged on the random split. The table shows the chosen configurations from results/best_configs.json. Freeze proof: best_configs.json was committed in 041892c on 2026-10-25 at 19:41:39 +05:30, and the final test results in 043c2ed at 19:52:52; 041892c is an ancestor of 043c2ed. The final-test script refuses to run unless best_configs.json is tracked, unmodified and present in git history. This shows the configurations were fixed before the test split was scored. We do not call this pre-registration; it is a freeze in git history.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Metrics: ROC AUC and PR AUC per endpoint on labeled rows, then the mean over the 12 endpoints, then mean and sample standard deviation over seeds 0, 1 and 2. PR AUC is reported next to ROC AUC because positives are rare: a random model's PR AUC equals the positive rate, while ROC AUC can look good because negatives dominate. Scaffold split: Bemis-Murcko scaffolds, largest groups go to train; all 1,753 acyclic molecules are in train, so scaffold validation and test contain only ring systems. The seed controls model randomness only; the splits are fixed, so the seed standard deviation does not measure split-to-split variation. Logistic Regression is deterministic, so its standard deviation is 0.0000. The test split has between 20 (NR-AR-LBD) and 109 (SR-ARE) positives per endpoint. Final runs: 3 models x 2 feature sets x 2 splits x 3 seeds x 12 endpoints = 432 fitted classifiers.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Scaffold split test results, mean over 12 endpoints, then mean and standard deviation over seeds 0, 1, 2 (tables/results_summary_scaffold.csv, from results/results_test.csv). Random Forest on morgan+desc has the highest mean in our runs: ROC AUC 0.7762 and PR AUC 0.4035. XGBoost on morgan+desc is close: ROC 0.7606 and PR 0.4010. The PR AUC difference between them is about 0.003, smaller than the seed standard deviation of 0.004 to 0.0045, so on PR AUC we treat them as tied; on ROC AUC the Random Forest is higher by about 0.016. Seeds do not capture split variance, and we ran no significance test. Logistic Regression has standard deviation 0.0000 because it is deterministic. With Morgan only, XGBoost (ROC 0.7020) is below Logistic Regression (0.7156), so the tree models are not uniformly ahead.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Gain from morgan to morgan+desc on the scaffold test split, paired by seed (tables/descriptor_benefit.csv). Logistic Regression: ROC +0.0162, PR +0.0006, so essentially no PR gain. Random Forest: ROC +0.0474 (sd 0.0074), PR +0.0333 (sd 0.0031). XGBoost: ROC +0.0586 (sd 0.0059), PR +0.0829 (sd 0.0025). The two tree models gain more from descriptors than Logistic Regression does. We did not run an ablation or feature-importance analysis on the hybrid set, so we do not claim why.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model and feature set (morgan+desc), random split versus scaffold split (tables/scaffold_penalty.csv). Random: ROC 0.8405 / 0.8607 / 0.8621 and PR 0.4818 / 0.5456 / 0.5647 for LR / RF / XGB. Scaffold: 0.7317 / 0.7762 / 0.7606 ROC and 0.3122 / 0.4035 / 0.4010 PR. Differences (scaffold minus random): ROC -0.1088 / -0.0845 / -0.1015, PR -0.1695 / -0.1421 / -0.1637. All three models score lower on the scaffold split. Caveat to say out loud: the random and scaffold test sets contain different molecules and different positive counts, and the scaffold test has no acyclic molecules, so this is a difference between two evaluations, not a controlled measurement of leakage. We ran no significance 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Per-endpoint means over seeds from tables/endpoint_results_scaffold.csv, three decimals as in the table. Bold marks the highest value in each row for that metric. Random Forest has the highest ROC AUC on 9 of 12 endpoints and XGBoost on 3; for PR AUC Random Forest leads on 8 and XGBoost on 4; Logistic Regression leads on none. The lowest best PR AUCs are SR-ATAD5 (0.247) and SR-HSE (0.267). Each endpoint's scaffold test set has only 20 to 109 positives, so single-endpoint differences are noisy and should not be over-read.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test molecule we computed the maximum Tanimoto similarity to any training molecule, using the 2,048-bit Morgan fingerprints and src/similarity.py. Mean maximum similarity: 0.428 for the scaffold split (median 0.396) and 0.584 for the random split (median 0.575). A training analog with Tanimoto 0.85 or higher exists for 13 of 771 scaffold test molecules and 72 of 771 random test molecules. So the scaffold test set is clearly less similar to training, but not free of close analogs. These values were recomputed from the committed splits and fingerprints. Figure: figures/tanimoto_similarity_distributions.png.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what the evidence does and does not show. One scaffold split and one random split, each at seed 0: the seed standard deviation covers model randomness only, so it understates uncertainty about which model is better. No significance tests. Test positives per endpoint 20 to 109. Random and scaffold test sets contain different molecules, so the gap is not a controlled measurement. Scaffold validation and test contain no acyclic molecules. Hyperparameters were tuned on the scaffold split and reused on the random split. Only fingerprints and 2D descriptors; we have not explained why descriptors help the tree models (no ablation or importance analysis on the hybrid set). Phase 2 will add a graph neural network.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follow the Phase 1 team handbook and the README. Raghav: data cleaning, deduplication, EDA, splits, Logistic Regression. Ranajeet: Morgan fingerprints, RDKit descriptors, leak-free preprocessing, Random Forest. Parrv: repository structure and contract, evaluation harness, XGBoost, tuning and final-test scripts, reproducibility. Abhijeet: literature review, theory, results analysis, Tanimoto study, report. Malhar is Member 5. The team presentation lists README and slide polish, tests, and viva preparation; the README describes the role as QA and verification. The committed QA report documents the 200-molecule smoke test and final-result reproduction, while the viva drill remains unrun. Known QA item: 01_eda.ipynb fails as committed because it expects a Google Colab path; the report proposes a portable-path fix. Phase 2 is a graph neural network evaluated on the same splits and protocol. Reproducibility: the QA report records that make final-test reproduced all 432 result rows to 1e-9.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1755648"/>
            <a:ext cx="73152" cy="3566160"/>
          </a:xfrm>
          <a:prstGeom prst="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37360"/>
            <a:ext cx="10515600" cy="1645920"/>
          </a:xfrm>
          <a:prstGeom prst="rect">
            <a:avLst/>
          </a:prstGeom>
          <a:noFill/>
        </p:spPr>
        <p:txBody>
          <a:bodyPr wrap="square" anchor="t" lIns="45720" rIns="45720">
            <a:spAutoFit/>
          </a:bodyPr>
          <a:lstStyle/>
          <a:p>
            <a:pPr algn="l">
              <a:spcAft>
                <a:spcPts val="800"/>
              </a:spcAft>
            </a:pPr>
            <a:r>
              <a:rPr sz="4400" b="1" dirty="0">
                <a:solidFill>
                  <a:srgbClr val="FFFFFF"/>
                </a:solidFill>
                <a:latin typeface="Arial"/>
              </a:rPr>
              <a:t>Predicting Tox21 toxicity from molecular structure</a:t>
            </a:r>
          </a:p>
        </p:txBody>
      </p:sp>
      <p:sp>
        <p:nvSpPr>
          <p:cNvPr id="5" name="TextBox 4"/>
          <p:cNvSpPr txBox="1"/>
          <p:nvPr/>
        </p:nvSpPr>
        <p:spPr>
          <a:xfrm>
            <a:off x="822960" y="3474720"/>
            <a:ext cx="10515600" cy="1097280"/>
          </a:xfrm>
          <a:prstGeom prst="rect">
            <a:avLst/>
          </a:prstGeom>
          <a:noFill/>
        </p:spPr>
        <p:txBody>
          <a:bodyPr wrap="square" anchor="t" lIns="45720" rIns="45720">
            <a:spAutoFit/>
          </a:bodyPr>
          <a:lstStyle/>
          <a:p>
            <a:pPr algn="l">
              <a:spcAft>
                <a:spcPts val="800"/>
              </a:spcAft>
            </a:pPr>
            <a:r>
              <a:rPr sz="2200" b="0" dirty="0">
                <a:solidFill>
                  <a:srgbClr val="BFE3E8"/>
                </a:solidFill>
                <a:latin typeface="Arial"/>
              </a:rPr>
              <a:t>Phase 1: Morgan fingerprints, RDKit descriptors and classical ML
(Logistic Regression, Random Forest, XGBoost)</a:t>
            </a:r>
          </a:p>
        </p:txBody>
      </p:sp>
      <p:sp>
        <p:nvSpPr>
          <p:cNvPr id="6" name="TextBox 5"/>
          <p:cNvSpPr txBox="1"/>
          <p:nvPr/>
        </p:nvSpPr>
        <p:spPr>
          <a:xfrm>
            <a:off x="822960" y="4709160"/>
            <a:ext cx="10515600" cy="411480"/>
          </a:xfrm>
          <a:prstGeom prst="rect">
            <a:avLst/>
          </a:prstGeom>
          <a:noFill/>
        </p:spPr>
        <p:txBody>
          <a:bodyPr wrap="square" anchor="t" lIns="45720" rIns="45720">
            <a:spAutoFit/>
          </a:bodyPr>
          <a:lstStyle/>
          <a:p>
            <a:pPr algn="l">
              <a:spcAft>
                <a:spcPts val="800"/>
              </a:spcAft>
            </a:pPr>
            <a:r>
              <a:rPr sz="1700" b="1" dirty="0">
                <a:solidFill>
                  <a:srgbClr val="FFFFFF"/>
                </a:solidFill>
                <a:latin typeface="Arial"/>
              </a:rPr>
              <a:t>7,709 molecules     •     12 assay endpoints     •     3 model families</a:t>
            </a:r>
          </a:p>
        </p:txBody>
      </p:sp>
      <p:sp>
        <p:nvSpPr>
          <p:cNvPr id="7" name="TextBox 6"/>
          <p:cNvSpPr txBox="1"/>
          <p:nvPr/>
        </p:nvSpPr>
        <p:spPr>
          <a:xfrm>
            <a:off x="822960" y="5440680"/>
            <a:ext cx="10515600" cy="457200"/>
          </a:xfrm>
          <a:prstGeom prst="rect">
            <a:avLst/>
          </a:prstGeom>
          <a:noFill/>
        </p:spPr>
        <p:txBody>
          <a:bodyPr wrap="square" anchor="t" lIns="45720" rIns="45720">
            <a:spAutoFit/>
          </a:bodyPr>
          <a:lstStyle/>
          <a:p>
            <a:pPr algn="l">
              <a:spcAft>
                <a:spcPts val="800"/>
              </a:spcAft>
            </a:pPr>
            <a:r>
              <a:rPr sz="1600" b="0" dirty="0">
                <a:solidFill>
                  <a:srgbClr val="BFE3E8"/>
                </a:solidFill>
                <a:latin typeface="Arial"/>
              </a:rPr>
              <a:t>Raghav  |  Ranajeet  |  Parrv  |  Abhijeet  |  Malhar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nchor="ctr" lIns="45720" rIns="45720">
            <a:spAutoFit/>
          </a:bodyPr>
          <a:lstStyle/>
          <a:p>
            <a:pPr algn="l">
              <a:spcAft>
                <a:spcPts val="800"/>
              </a:spcAft>
            </a:pPr>
            <a:r>
              <a:rPr sz="3000" b="1" dirty="0">
                <a:solidFill>
                  <a:srgbClr val="142B4D"/>
                </a:solidFill>
                <a:latin typeface="Arial"/>
              </a:rPr>
              <a:t>Problem and dataset</a:t>
            </a:r>
          </a:p>
        </p:txBody>
      </p:sp>
      <p:sp>
        <p:nvSpPr>
          <p:cNvPr id="3" name="Rectangle 2"/>
          <p:cNvSpPr/>
          <p:nvPr/>
        </p:nvSpPr>
        <p:spPr>
          <a:xfrm>
            <a:off x="594360" y="1051560"/>
            <a:ext cx="1463040" cy="54864"/>
          </a:xfrm>
          <a:prstGeom prst="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800"/>
              </a:spcAft>
            </a:pPr>
            <a:r>
              <a:rPr sz="1000" b="0" dirty="0">
                <a:solidFill>
                  <a:srgbClr val="555F6B"/>
                </a:solidFill>
                <a:latin typeface="Arial"/>
              </a:rPr>
              <a:t>Tox21 Phase 1  |  classical ML baseline</a:t>
            </a:r>
          </a:p>
        </p:txBody>
      </p:sp>
      <p:sp>
        <p:nvSpPr>
          <p:cNvPr id="5" name="TextBox 4"/>
          <p:cNvSpPr txBox="1"/>
          <p:nvPr/>
        </p:nvSpPr>
        <p:spPr>
          <a:xfrm>
            <a:off x="10881360" y="6446520"/>
            <a:ext cx="822960" cy="274320"/>
          </a:xfrm>
          <a:prstGeom prst="rect">
            <a:avLst/>
          </a:prstGeom>
          <a:noFill/>
        </p:spPr>
        <p:txBody>
          <a:bodyPr wrap="square" anchor="t" lIns="45720" rIns="45720">
            <a:spAutoFit/>
          </a:bodyPr>
          <a:lstStyle/>
          <a:p>
            <a:pPr algn="r">
              <a:spcAft>
                <a:spcPts val="800"/>
              </a:spcAft>
            </a:pPr>
            <a:r>
              <a:rPr sz="1000" b="0" dirty="0">
                <a:solidFill>
                  <a:srgbClr val="555F6B"/>
                </a:solidFill>
                <a:latin typeface="Arial"/>
              </a:rPr>
              <a:t>2</a:t>
            </a:r>
          </a:p>
        </p:txBody>
      </p:sp>
      <p:sp>
        <p:nvSpPr>
          <p:cNvPr id="6" name="TextBox 5"/>
          <p:cNvSpPr txBox="1"/>
          <p:nvPr/>
        </p:nvSpPr>
        <p:spPr>
          <a:xfrm>
            <a:off x="548640" y="1371600"/>
            <a:ext cx="5120640" cy="4937760"/>
          </a:xfrm>
          <a:prstGeom prst="rect">
            <a:avLst/>
          </a:prstGeom>
          <a:noFill/>
        </p:spPr>
        <p:txBody>
          <a:bodyPr wrap="square" anchor="t" lIns="45720" rIns="45720">
            <a:spAutoFit/>
          </a:bodyPr>
          <a:lstStyle/>
          <a:p>
            <a:pPr algn="l">
              <a:spcAft>
                <a:spcPts val="800"/>
              </a:spcAft>
            </a:pPr>
            <a:r>
              <a:rPr sz="1900" b="0" dirty="0">
                <a:solidFill>
                  <a:srgbClr val="142B4D"/>
                </a:solidFill>
                <a:latin typeface="Arial"/>
              </a:rPr>
              <a:t>•  7,709 unique molecules after cleaning</a:t>
            </a:r>
          </a:p>
          <a:p>
            <a:pPr algn="l">
              <a:spcAft>
                <a:spcPts val="800"/>
              </a:spcAft>
            </a:pPr>
            <a:r>
              <a:rPr sz="1900" b="0" dirty="0">
                <a:solidFill>
                  <a:srgbClr val="142B4D"/>
                </a:solidFill>
                <a:latin typeface="Arial"/>
              </a:rPr>
              <a:t>•  12 toxicity endpoints (NR-* nuclear receptor, SR-* stress response), one binary classifier per endpoint</a:t>
            </a:r>
          </a:p>
          <a:p>
            <a:pPr algn="l">
              <a:spcAft>
                <a:spcPts val="800"/>
              </a:spcAft>
            </a:pPr>
            <a:r>
              <a:rPr sz="1900" b="0" dirty="0">
                <a:solidFill>
                  <a:srgbClr val="142B4D"/>
                </a:solidFill>
                <a:latin typeface="Arial"/>
              </a:rPr>
              <a:t>•  17.05% of label cells are missing: not tested, not non-toxic. Missing labels stay NaN; metrics use labeled rows only</a:t>
            </a:r>
          </a:p>
          <a:p>
            <a:pPr algn="l">
              <a:spcAft>
                <a:spcPts val="800"/>
              </a:spcAft>
            </a:pPr>
            <a:r>
              <a:rPr sz="1900" b="0" dirty="0">
                <a:solidFill>
                  <a:srgbClr val="142B4D"/>
                </a:solidFill>
                <a:latin typeface="Arial"/>
              </a:rPr>
              <a:t>•  Labeled molecules per endpoint: 5,718 to 7,141</a:t>
            </a:r>
          </a:p>
          <a:p>
            <a:pPr algn="l">
              <a:spcAft>
                <a:spcPts val="800"/>
              </a:spcAft>
            </a:pPr>
            <a:r>
              <a:rPr sz="1900" b="0" dirty="0">
                <a:solidFill>
                  <a:srgbClr val="142B4D"/>
                </a:solidFill>
                <a:latin typeface="Arial"/>
              </a:rPr>
              <a:t>•  Positive rate per endpoint: 2.91% (NR-PPAR-gamma) to 15.94% (SR-ARE)</a:t>
            </a:r>
          </a:p>
        </p:txBody>
      </p:sp>
      <p:pic>
        <p:nvPicPr>
          <p:cNvPr id="7" name="Picture 6" descr="eda_labels.png"/>
          <p:cNvPicPr>
            <a:picLocks noChangeAspect="1"/>
          </p:cNvPicPr>
          <p:nvPr/>
        </p:nvPicPr>
        <p:blipFill>
          <a:blip r:embed="rId3"/>
          <a:stretch>
            <a:fillRect/>
          </a:stretch>
        </p:blipFill>
        <p:spPr>
          <a:xfrm>
            <a:off x="5852160" y="2531622"/>
            <a:ext cx="5852160" cy="225195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nchor="ctr" lIns="45720" rIns="45720">
            <a:spAutoFit/>
          </a:bodyPr>
          <a:lstStyle/>
          <a:p>
            <a:pPr algn="l">
              <a:spcAft>
                <a:spcPts val="800"/>
              </a:spcAft>
            </a:pPr>
            <a:r>
              <a:rPr sz="3000" b="1" dirty="0">
                <a:solidFill>
                  <a:srgbClr val="142B4D"/>
                </a:solidFill>
                <a:latin typeface="Arial"/>
              </a:rPr>
              <a:t>Pipeline</a:t>
            </a:r>
          </a:p>
        </p:txBody>
      </p:sp>
      <p:sp>
        <p:nvSpPr>
          <p:cNvPr id="3" name="Rectangle 2"/>
          <p:cNvSpPr/>
          <p:nvPr/>
        </p:nvSpPr>
        <p:spPr>
          <a:xfrm>
            <a:off x="594360" y="1051560"/>
            <a:ext cx="1463040" cy="54864"/>
          </a:xfrm>
          <a:prstGeom prst="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800"/>
              </a:spcAft>
            </a:pPr>
            <a:r>
              <a:rPr sz="1000" b="0" dirty="0">
                <a:solidFill>
                  <a:srgbClr val="555F6B"/>
                </a:solidFill>
                <a:latin typeface="Arial"/>
              </a:rPr>
              <a:t>Tox21 Phase 1  |  classical ML baseline</a:t>
            </a:r>
          </a:p>
        </p:txBody>
      </p:sp>
      <p:sp>
        <p:nvSpPr>
          <p:cNvPr id="5" name="TextBox 4"/>
          <p:cNvSpPr txBox="1"/>
          <p:nvPr/>
        </p:nvSpPr>
        <p:spPr>
          <a:xfrm>
            <a:off x="10881360" y="6446520"/>
            <a:ext cx="822960" cy="274320"/>
          </a:xfrm>
          <a:prstGeom prst="rect">
            <a:avLst/>
          </a:prstGeom>
          <a:noFill/>
        </p:spPr>
        <p:txBody>
          <a:bodyPr wrap="square" anchor="t" lIns="45720" rIns="45720">
            <a:spAutoFit/>
          </a:bodyPr>
          <a:lstStyle/>
          <a:p>
            <a:pPr algn="r">
              <a:spcAft>
                <a:spcPts val="800"/>
              </a:spcAft>
            </a:pPr>
            <a:r>
              <a:rPr sz="1000" b="0" dirty="0">
                <a:solidFill>
                  <a:srgbClr val="555F6B"/>
                </a:solidFill>
                <a:latin typeface="Arial"/>
              </a:rPr>
              <a:t>3</a:t>
            </a:r>
          </a:p>
        </p:txBody>
      </p:sp>
      <p:sp>
        <p:nvSpPr>
          <p:cNvPr id="6" name="Rounded Rectangle 5"/>
          <p:cNvSpPr/>
          <p:nvPr/>
        </p:nvSpPr>
        <p:spPr>
          <a:xfrm>
            <a:off x="548640" y="1645920"/>
            <a:ext cx="2331720" cy="1234440"/>
          </a:xfrm>
          <a:prstGeom prst="round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dirty="0">
                <a:solidFill>
                  <a:srgbClr val="FFFFFF"/>
                </a:solidFill>
                <a:latin typeface="Arial"/>
              </a:rPr>
              <a:t>Raw Tox21 CSV</a:t>
            </a:r>
          </a:p>
          <a:p>
            <a:pPr algn="ctr"/>
            <a:r>
              <a:rPr sz="1200" b="0" dirty="0">
                <a:solidFill>
                  <a:srgbClr val="FFFFFF"/>
                </a:solidFill>
                <a:latin typeface="Arial"/>
              </a:rPr>
              <a:t>12 labels, SMILES</a:t>
            </a:r>
          </a:p>
        </p:txBody>
      </p:sp>
      <p:sp>
        <p:nvSpPr>
          <p:cNvPr id="7" name="Right Arrow 6"/>
          <p:cNvSpPr/>
          <p:nvPr/>
        </p:nvSpPr>
        <p:spPr>
          <a:xfrm>
            <a:off x="2898648" y="2121408"/>
            <a:ext cx="320040" cy="274320"/>
          </a:xfrm>
          <a:prstGeom prst="right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29000" y="1645920"/>
            <a:ext cx="2331720" cy="1234440"/>
          </a:xfrm>
          <a:prstGeom prst="round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dirty="0">
                <a:solidFill>
                  <a:srgbClr val="FFFFFF"/>
                </a:solidFill>
                <a:latin typeface="Arial"/>
              </a:rPr>
              <a:t>Clean + deduplicate</a:t>
            </a:r>
          </a:p>
          <a:p>
            <a:pPr algn="ctr"/>
            <a:r>
              <a:rPr sz="1200" b="0" dirty="0">
                <a:solidFill>
                  <a:srgbClr val="FFFFFF"/>
                </a:solidFill>
                <a:latin typeface="Arial"/>
              </a:rPr>
              <a:t>7,709 molecules</a:t>
            </a:r>
          </a:p>
        </p:txBody>
      </p:sp>
      <p:sp>
        <p:nvSpPr>
          <p:cNvPr id="9" name="Right Arrow 8"/>
          <p:cNvSpPr/>
          <p:nvPr/>
        </p:nvSpPr>
        <p:spPr>
          <a:xfrm>
            <a:off x="5779007" y="2121408"/>
            <a:ext cx="320040" cy="274320"/>
          </a:xfrm>
          <a:prstGeom prst="right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60" y="1645920"/>
            <a:ext cx="2331720" cy="1234440"/>
          </a:xfrm>
          <a:prstGeom prst="round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dirty="0">
                <a:solidFill>
                  <a:srgbClr val="FFFFFF"/>
                </a:solidFill>
                <a:latin typeface="Arial"/>
              </a:rPr>
              <a:t>Split 80/10/10</a:t>
            </a:r>
          </a:p>
          <a:p>
            <a:pPr algn="ctr"/>
            <a:r>
              <a:rPr sz="1200" b="0" dirty="0">
                <a:solidFill>
                  <a:srgbClr val="FFFFFF"/>
                </a:solidFill>
                <a:latin typeface="Arial"/>
              </a:rPr>
              <a:t>6,167 / 771 / 771</a:t>
            </a:r>
          </a:p>
          <a:p>
            <a:pPr algn="ctr"/>
            <a:r>
              <a:rPr sz="1200" b="0" dirty="0">
                <a:solidFill>
                  <a:srgbClr val="FFFFFF"/>
                </a:solidFill>
                <a:latin typeface="Arial"/>
              </a:rPr>
              <a:t>scaffold + random</a:t>
            </a:r>
          </a:p>
        </p:txBody>
      </p:sp>
      <p:sp>
        <p:nvSpPr>
          <p:cNvPr id="11" name="Right Arrow 10"/>
          <p:cNvSpPr/>
          <p:nvPr/>
        </p:nvSpPr>
        <p:spPr>
          <a:xfrm>
            <a:off x="8659367" y="2121408"/>
            <a:ext cx="320040" cy="274320"/>
          </a:xfrm>
          <a:prstGeom prst="right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89720" y="1645920"/>
            <a:ext cx="2331720" cy="1234440"/>
          </a:xfrm>
          <a:prstGeom prst="round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dirty="0">
                <a:solidFill>
                  <a:srgbClr val="FFFFFF"/>
                </a:solidFill>
                <a:latin typeface="Arial"/>
              </a:rPr>
              <a:t>Features</a:t>
            </a:r>
          </a:p>
          <a:p>
            <a:pPr algn="ctr"/>
            <a:r>
              <a:rPr sz="1200" b="0" dirty="0">
                <a:solidFill>
                  <a:srgbClr val="FFFFFF"/>
                </a:solidFill>
                <a:latin typeface="Arial"/>
              </a:rPr>
              <a:t>Morgan 2,048 bits</a:t>
            </a:r>
          </a:p>
          <a:p>
            <a:pPr algn="ctr"/>
            <a:r>
              <a:rPr sz="1200" b="0" dirty="0">
                <a:solidFill>
                  <a:srgbClr val="FFFFFF"/>
                </a:solidFill>
                <a:latin typeface="Arial"/>
              </a:rPr>
              <a:t>+ 213 descriptors</a:t>
            </a:r>
          </a:p>
        </p:txBody>
      </p:sp>
      <p:sp>
        <p:nvSpPr>
          <p:cNvPr id="13" name="Rounded Rectangle 12"/>
          <p:cNvSpPr/>
          <p:nvPr/>
        </p:nvSpPr>
        <p:spPr>
          <a:xfrm>
            <a:off x="548640" y="3749039"/>
            <a:ext cx="2331720" cy="1234440"/>
          </a:xfrm>
          <a:prstGeom prst="roundRect">
            <a:avLst/>
          </a:prstGeom>
          <a:solidFill>
            <a:srgbClr val="142B4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dirty="0">
                <a:solidFill>
                  <a:srgbClr val="FFFFFF"/>
                </a:solidFill>
                <a:latin typeface="Arial"/>
              </a:rPr>
              <a:t>Tune on validation</a:t>
            </a:r>
          </a:p>
          <a:p>
            <a:pPr algn="ctr"/>
            <a:r>
              <a:rPr sz="1200" b="0" dirty="0">
                <a:solidFill>
                  <a:srgbClr val="FFFFFF"/>
                </a:solidFill>
                <a:latin typeface="Arial"/>
              </a:rPr>
              <a:t>8 configs per model</a:t>
            </a:r>
          </a:p>
          <a:p>
            <a:pPr algn="ctr"/>
            <a:r>
              <a:rPr sz="1200" b="0" dirty="0">
                <a:solidFill>
                  <a:srgbClr val="FFFFFF"/>
                </a:solidFill>
                <a:latin typeface="Arial"/>
              </a:rPr>
              <a:t>per feature set</a:t>
            </a:r>
          </a:p>
        </p:txBody>
      </p:sp>
      <p:sp>
        <p:nvSpPr>
          <p:cNvPr id="14" name="Right Arrow 13"/>
          <p:cNvSpPr/>
          <p:nvPr/>
        </p:nvSpPr>
        <p:spPr>
          <a:xfrm>
            <a:off x="2898648" y="4224527"/>
            <a:ext cx="320040" cy="274320"/>
          </a:xfrm>
          <a:prstGeom prst="right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9000" y="3749039"/>
            <a:ext cx="2331720" cy="1234440"/>
          </a:xfrm>
          <a:prstGeom prst="roundRect">
            <a:avLst/>
          </a:prstGeom>
          <a:solidFill>
            <a:srgbClr val="B23A3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dirty="0">
                <a:solidFill>
                  <a:srgbClr val="FFFFFF"/>
                </a:solidFill>
                <a:latin typeface="Arial"/>
              </a:rPr>
              <a:t>Freeze configs</a:t>
            </a:r>
          </a:p>
          <a:p>
            <a:pPr algn="ctr"/>
            <a:r>
              <a:rPr sz="1200" b="0" dirty="0">
                <a:solidFill>
                  <a:srgbClr val="FFFFFF"/>
                </a:solidFill>
                <a:latin typeface="Arial"/>
              </a:rPr>
              <a:t>best_configs.json</a:t>
            </a:r>
          </a:p>
          <a:p>
            <a:pPr algn="ctr"/>
            <a:r>
              <a:rPr sz="1200" b="0" dirty="0">
                <a:solidFill>
                  <a:srgbClr val="FFFFFF"/>
                </a:solidFill>
                <a:latin typeface="Arial"/>
              </a:rPr>
              <a:t>commit 041892c</a:t>
            </a:r>
          </a:p>
        </p:txBody>
      </p:sp>
      <p:sp>
        <p:nvSpPr>
          <p:cNvPr id="16" name="Right Arrow 15"/>
          <p:cNvSpPr/>
          <p:nvPr/>
        </p:nvSpPr>
        <p:spPr>
          <a:xfrm>
            <a:off x="5779007" y="4224527"/>
            <a:ext cx="320040" cy="274320"/>
          </a:xfrm>
          <a:prstGeom prst="right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60" y="3749039"/>
            <a:ext cx="2331720" cy="1234440"/>
          </a:xfrm>
          <a:prstGeom prst="roundRect">
            <a:avLst/>
          </a:prstGeom>
          <a:solidFill>
            <a:srgbClr val="142B4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dirty="0">
                <a:solidFill>
                  <a:srgbClr val="FFFFFF"/>
                </a:solidFill>
                <a:latin typeface="Arial"/>
              </a:rPr>
              <a:t>Final test</a:t>
            </a:r>
          </a:p>
          <a:p>
            <a:pPr algn="ctr"/>
            <a:r>
              <a:rPr sz="1200" b="0" dirty="0">
                <a:solidFill>
                  <a:srgbClr val="FFFFFF"/>
                </a:solidFill>
                <a:latin typeface="Arial"/>
              </a:rPr>
              <a:t>seeds 0, 1, 2</a:t>
            </a:r>
          </a:p>
          <a:p>
            <a:pPr algn="ctr"/>
            <a:r>
              <a:rPr sz="1200" b="0" dirty="0">
                <a:solidFill>
                  <a:srgbClr val="FFFFFF"/>
                </a:solidFill>
                <a:latin typeface="Arial"/>
              </a:rPr>
              <a:t>432 classifiers</a:t>
            </a:r>
          </a:p>
        </p:txBody>
      </p:sp>
      <p:sp>
        <p:nvSpPr>
          <p:cNvPr id="18" name="Right Arrow 17"/>
          <p:cNvSpPr/>
          <p:nvPr/>
        </p:nvSpPr>
        <p:spPr>
          <a:xfrm>
            <a:off x="8659367" y="4224527"/>
            <a:ext cx="320040" cy="274320"/>
          </a:xfrm>
          <a:prstGeom prst="rightArrow">
            <a:avLst/>
          </a:prstGeom>
          <a:solidFill>
            <a:srgbClr val="555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89720" y="3749039"/>
            <a:ext cx="2331720" cy="1234440"/>
          </a:xfrm>
          <a:prstGeom prst="roundRect">
            <a:avLst/>
          </a:prstGeom>
          <a:solidFill>
            <a:srgbClr val="142B4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dirty="0">
                <a:solidFill>
                  <a:srgbClr val="FFFFFF"/>
                </a:solidFill>
                <a:latin typeface="Arial"/>
              </a:rPr>
              <a:t>Tables, figures, report</a:t>
            </a:r>
          </a:p>
          <a:p>
            <a:pPr algn="ctr"/>
            <a:r>
              <a:rPr sz="1200" b="0" dirty="0">
                <a:solidFill>
                  <a:srgbClr val="FFFFFF"/>
                </a:solidFill>
                <a:latin typeface="Arial"/>
              </a:rPr>
              <a:t>from results_test.csv</a:t>
            </a:r>
          </a:p>
        </p:txBody>
      </p:sp>
      <p:sp>
        <p:nvSpPr>
          <p:cNvPr id="20" name="TextBox 19"/>
          <p:cNvSpPr txBox="1"/>
          <p:nvPr/>
        </p:nvSpPr>
        <p:spPr>
          <a:xfrm>
            <a:off x="548640" y="5394960"/>
            <a:ext cx="11064240" cy="822960"/>
          </a:xfrm>
          <a:prstGeom prst="rect">
            <a:avLst/>
          </a:prstGeom>
          <a:noFill/>
        </p:spPr>
        <p:txBody>
          <a:bodyPr wrap="square" anchor="t" lIns="45720" rIns="45720">
            <a:spAutoFit/>
          </a:bodyPr>
          <a:lstStyle/>
          <a:p>
            <a:pPr algn="l">
              <a:spcAft>
                <a:spcPts val="800"/>
              </a:spcAft>
            </a:pPr>
            <a:r>
              <a:rPr sz="1700" b="0" dirty="0">
                <a:solidFill>
                  <a:srgbClr val="555F6B"/>
                </a:solidFill>
                <a:latin typeface="Arial"/>
              </a:rPr>
              <a:t>The test split is read only by scripts/04_final_test.py. Rows are never reordered; missing labels are never filled with 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nchor="ctr" lIns="45720" rIns="45720">
            <a:spAutoFit/>
          </a:bodyPr>
          <a:lstStyle/>
          <a:p>
            <a:pPr algn="l">
              <a:spcAft>
                <a:spcPts val="800"/>
              </a:spcAft>
            </a:pPr>
            <a:r>
              <a:rPr sz="3000" b="1" dirty="0">
                <a:solidFill>
                  <a:srgbClr val="142B4D"/>
                </a:solidFill>
                <a:latin typeface="Arial"/>
              </a:rPr>
              <a:t>Features: Morgan fingerprints and RDKit descriptors</a:t>
            </a:r>
          </a:p>
        </p:txBody>
      </p:sp>
      <p:sp>
        <p:nvSpPr>
          <p:cNvPr id="3" name="Rectangle 2"/>
          <p:cNvSpPr/>
          <p:nvPr/>
        </p:nvSpPr>
        <p:spPr>
          <a:xfrm>
            <a:off x="594360" y="1051560"/>
            <a:ext cx="1463040" cy="54864"/>
          </a:xfrm>
          <a:prstGeom prst="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800"/>
              </a:spcAft>
            </a:pPr>
            <a:r>
              <a:rPr sz="1000" b="0" dirty="0">
                <a:solidFill>
                  <a:srgbClr val="555F6B"/>
                </a:solidFill>
                <a:latin typeface="Arial"/>
              </a:rPr>
              <a:t>Tox21 Phase 1  |  classical ML baseline</a:t>
            </a:r>
          </a:p>
        </p:txBody>
      </p:sp>
      <p:sp>
        <p:nvSpPr>
          <p:cNvPr id="5" name="TextBox 4"/>
          <p:cNvSpPr txBox="1"/>
          <p:nvPr/>
        </p:nvSpPr>
        <p:spPr>
          <a:xfrm>
            <a:off x="10881360" y="6446520"/>
            <a:ext cx="822960" cy="274320"/>
          </a:xfrm>
          <a:prstGeom prst="rect">
            <a:avLst/>
          </a:prstGeom>
          <a:noFill/>
        </p:spPr>
        <p:txBody>
          <a:bodyPr wrap="square" anchor="t" lIns="45720" rIns="45720">
            <a:spAutoFit/>
          </a:bodyPr>
          <a:lstStyle/>
          <a:p>
            <a:pPr algn="r">
              <a:spcAft>
                <a:spcPts val="800"/>
              </a:spcAft>
            </a:pPr>
            <a:r>
              <a:rPr sz="1000" b="0" dirty="0">
                <a:solidFill>
                  <a:srgbClr val="555F6B"/>
                </a:solidFill>
                <a:latin typeface="Arial"/>
              </a:rPr>
              <a:t>4</a:t>
            </a:r>
          </a:p>
        </p:txBody>
      </p:sp>
      <p:sp>
        <p:nvSpPr>
          <p:cNvPr id="6" name="Rounded Rectangle 5"/>
          <p:cNvSpPr/>
          <p:nvPr/>
        </p:nvSpPr>
        <p:spPr>
          <a:xfrm>
            <a:off x="548640" y="1554480"/>
            <a:ext cx="5303520" cy="1371600"/>
          </a:xfrm>
          <a:prstGeom prst="round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dirty="0">
                <a:solidFill>
                  <a:srgbClr val="FFFFFF"/>
                </a:solidFill>
                <a:latin typeface="Arial"/>
              </a:rPr>
              <a:t>morgan</a:t>
            </a:r>
          </a:p>
          <a:p>
            <a:pPr algn="ctr"/>
            <a:r>
              <a:rPr sz="1900" b="0" dirty="0">
                <a:solidFill>
                  <a:srgbClr val="FFFFFF"/>
                </a:solidFill>
                <a:latin typeface="Arial"/>
              </a:rPr>
              <a:t>2,048 bits, radius 2</a:t>
            </a:r>
          </a:p>
        </p:txBody>
      </p:sp>
      <p:sp>
        <p:nvSpPr>
          <p:cNvPr id="7" name="Rounded Rectangle 6"/>
          <p:cNvSpPr/>
          <p:nvPr/>
        </p:nvSpPr>
        <p:spPr>
          <a:xfrm>
            <a:off x="6309360" y="1554480"/>
            <a:ext cx="5303520" cy="1371600"/>
          </a:xfrm>
          <a:prstGeom prst="roundRect">
            <a:avLst/>
          </a:prstGeom>
          <a:solidFill>
            <a:srgbClr val="142B4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200" b="1" dirty="0">
                <a:solidFill>
                  <a:srgbClr val="FFFFFF"/>
                </a:solidFill>
                <a:latin typeface="Arial"/>
              </a:rPr>
              <a:t>morgan+desc</a:t>
            </a:r>
          </a:p>
          <a:p>
            <a:pPr algn="ctr"/>
            <a:r>
              <a:rPr sz="1900" b="0" dirty="0">
                <a:solidFill>
                  <a:srgbClr val="FFFFFF"/>
                </a:solidFill>
                <a:latin typeface="Arial"/>
              </a:rPr>
              <a:t>2,261 columns = 2,048 + 213 descriptors</a:t>
            </a:r>
          </a:p>
        </p:txBody>
      </p:sp>
      <p:sp>
        <p:nvSpPr>
          <p:cNvPr id="8" name="TextBox 7"/>
          <p:cNvSpPr txBox="1"/>
          <p:nvPr/>
        </p:nvSpPr>
        <p:spPr>
          <a:xfrm>
            <a:off x="548640" y="3291840"/>
            <a:ext cx="11064240" cy="2926080"/>
          </a:xfrm>
          <a:prstGeom prst="rect">
            <a:avLst/>
          </a:prstGeom>
          <a:noFill/>
        </p:spPr>
        <p:txBody>
          <a:bodyPr wrap="square" anchor="t" lIns="45720" rIns="45720">
            <a:spAutoFit/>
          </a:bodyPr>
          <a:lstStyle/>
          <a:p>
            <a:pPr algn="l">
              <a:spcAft>
                <a:spcPts val="800"/>
              </a:spcAft>
            </a:pPr>
            <a:r>
              <a:rPr sz="1900" b="0" dirty="0">
                <a:solidFill>
                  <a:srgbClr val="142B4D"/>
                </a:solidFill>
                <a:latin typeface="Arial"/>
              </a:rPr>
              <a:t>•  RDKit 2D descriptors: 217 raw, 213 retained (3 constant-zero and 1 near-constant descriptor dropped)</a:t>
            </a:r>
          </a:p>
          <a:p>
            <a:pPr algn="l">
              <a:spcAft>
                <a:spcPts val="800"/>
              </a:spcAft>
            </a:pPr>
            <a:r>
              <a:rPr sz="1900" b="0" dirty="0">
                <a:solidFill>
                  <a:srgbClr val="142B4D"/>
                </a:solidFill>
                <a:latin typeface="Arial"/>
              </a:rPr>
              <a:t>•  Raw descriptors had 1,224 NaN cells and 6 infinite cells across 107 compounds; these are handled before scaling</a:t>
            </a:r>
          </a:p>
          <a:p>
            <a:pPr algn="l">
              <a:spcAft>
                <a:spcPts val="800"/>
              </a:spcAft>
            </a:pPr>
            <a:r>
              <a:rPr sz="1900" b="0" dirty="0">
                <a:solidFill>
                  <a:srgbClr val="142B4D"/>
                </a:solidFill>
                <a:latin typeface="Arial"/>
              </a:rPr>
              <a:t>•  Cleaning and scaling are fit on the training rows only, inside load_features(): no leakage into validation or test</a:t>
            </a:r>
          </a:p>
          <a:p>
            <a:pPr algn="l">
              <a:spcAft>
                <a:spcPts val="800"/>
              </a:spcAft>
            </a:pPr>
            <a:r>
              <a:rPr sz="1900" b="0" dirty="0">
                <a:solidFill>
                  <a:srgbClr val="142B4D"/>
                </a:solidFill>
                <a:latin typeface="Arial"/>
              </a:rPr>
              <a:t>•  Morgan bits are binary substructure indicators; descriptors add bulk properties such as logP, polar surface area and molecular weight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nchor="ctr" lIns="45720" rIns="45720">
            <a:spAutoFit/>
          </a:bodyPr>
          <a:lstStyle/>
          <a:p>
            <a:pPr algn="l">
              <a:spcAft>
                <a:spcPts val="800"/>
              </a:spcAft>
            </a:pPr>
            <a:r>
              <a:rPr sz="3000" b="1" dirty="0">
                <a:solidFill>
                  <a:srgbClr val="142B4D"/>
                </a:solidFill>
                <a:latin typeface="Arial"/>
              </a:rPr>
              <a:t>Models and tuning protocol</a:t>
            </a:r>
          </a:p>
        </p:txBody>
      </p:sp>
      <p:sp>
        <p:nvSpPr>
          <p:cNvPr id="3" name="Rectangle 2"/>
          <p:cNvSpPr/>
          <p:nvPr/>
        </p:nvSpPr>
        <p:spPr>
          <a:xfrm>
            <a:off x="594360" y="1051560"/>
            <a:ext cx="1463040" cy="54864"/>
          </a:xfrm>
          <a:prstGeom prst="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800"/>
              </a:spcAft>
            </a:pPr>
            <a:r>
              <a:rPr sz="1000" b="0" dirty="0">
                <a:solidFill>
                  <a:srgbClr val="555F6B"/>
                </a:solidFill>
                <a:latin typeface="Arial"/>
              </a:rPr>
              <a:t>Tox21 Phase 1  |  classical ML baseline</a:t>
            </a:r>
          </a:p>
        </p:txBody>
      </p:sp>
      <p:sp>
        <p:nvSpPr>
          <p:cNvPr id="5" name="TextBox 4"/>
          <p:cNvSpPr txBox="1"/>
          <p:nvPr/>
        </p:nvSpPr>
        <p:spPr>
          <a:xfrm>
            <a:off x="10881360" y="6446520"/>
            <a:ext cx="822960" cy="274320"/>
          </a:xfrm>
          <a:prstGeom prst="rect">
            <a:avLst/>
          </a:prstGeom>
          <a:noFill/>
        </p:spPr>
        <p:txBody>
          <a:bodyPr wrap="square" anchor="t" lIns="45720" rIns="45720">
            <a:spAutoFit/>
          </a:bodyPr>
          <a:lstStyle/>
          <a:p>
            <a:pPr algn="r">
              <a:spcAft>
                <a:spcPts val="800"/>
              </a:spcAft>
            </a:pPr>
            <a:r>
              <a:rPr sz="1000" b="0" dirty="0">
                <a:solidFill>
                  <a:srgbClr val="555F6B"/>
                </a:solidFill>
                <a:latin typeface="Arial"/>
              </a:rPr>
              <a:t>5</a:t>
            </a:r>
          </a:p>
        </p:txBody>
      </p:sp>
      <p:graphicFrame>
        <p:nvGraphicFramePr>
          <p:cNvPr id="6" name="Table 5"/>
          <p:cNvGraphicFramePr>
            <a:graphicFrameLocks noGrp="1"/>
          </p:cNvGraphicFramePr>
          <p:nvPr/>
        </p:nvGraphicFramePr>
        <p:xfrm>
          <a:off x="548640" y="1371600"/>
          <a:ext cx="7223759" cy="2944368"/>
        </p:xfrm>
        <a:graphic>
          <a:graphicData uri="http://schemas.openxmlformats.org/drawingml/2006/table">
            <a:tbl>
              <a:tblPr firstRow="1" bandRow="1">
                <a:tableStyleId>{5C22544A-7EE6-4342-B048-85BDC9FD1C3A}</a:tableStyleId>
              </a:tblPr>
              <a:tblGrid>
                <a:gridCol w="1920240"/>
                <a:gridCol w="1554480"/>
                <a:gridCol w="3749039"/>
              </a:tblGrid>
              <a:tr h="420624">
                <a:tc>
                  <a:txBody>
                    <a:bodyPr wrap="square"/>
                    <a:lstStyle/>
                    <a:p>
                      <a:pPr algn="l"/>
                      <a:r>
                        <a:rPr sz="1300" b="1" dirty="0">
                          <a:solidFill>
                            <a:srgbClr val="FFFFFF"/>
                          </a:solidFill>
                          <a:latin typeface="Arial"/>
                        </a:rPr>
                        <a:t>Model</a:t>
                      </a:r>
                    </a:p>
                  </a:txBody>
                  <a:tcPr marL="54864" marR="54864" marT="18288" marB="18288" anchor="ctr">
                    <a:solidFill>
                      <a:srgbClr val="142B4D"/>
                    </a:solidFill>
                  </a:tcPr>
                </a:tc>
                <a:tc>
                  <a:txBody>
                    <a:bodyPr wrap="square"/>
                    <a:lstStyle/>
                    <a:p>
                      <a:pPr algn="ctr"/>
                      <a:r>
                        <a:rPr sz="1300" b="1" dirty="0">
                          <a:solidFill>
                            <a:srgbClr val="FFFFFF"/>
                          </a:solidFill>
                          <a:latin typeface="Arial"/>
                        </a:rPr>
                        <a:t>Features</a:t>
                      </a:r>
                    </a:p>
                  </a:txBody>
                  <a:tcPr marL="54864" marR="54864" marT="18288" marB="18288" anchor="ctr">
                    <a:solidFill>
                      <a:srgbClr val="142B4D"/>
                    </a:solidFill>
                  </a:tcPr>
                </a:tc>
                <a:tc>
                  <a:txBody>
                    <a:bodyPr wrap="square"/>
                    <a:lstStyle/>
                    <a:p>
                      <a:pPr algn="ctr"/>
                      <a:r>
                        <a:rPr sz="1300" b="1" dirty="0">
                          <a:solidFill>
                            <a:srgbClr val="FFFFFF"/>
                          </a:solidFill>
                          <a:latin typeface="Arial"/>
                        </a:rPr>
                        <a:t>Chosen configuration (best_configs.json)</a:t>
                      </a:r>
                    </a:p>
                  </a:txBody>
                  <a:tcPr marL="54864" marR="54864" marT="18288" marB="18288" anchor="ctr">
                    <a:solidFill>
                      <a:srgbClr val="142B4D"/>
                    </a:solidFill>
                  </a:tcPr>
                </a:tc>
              </a:tr>
              <a:tr h="420624">
                <a:tc>
                  <a:txBody>
                    <a:bodyPr wrap="square"/>
                    <a:lstStyle/>
                    <a:p>
                      <a:pPr algn="l"/>
                      <a:r>
                        <a:rPr sz="1300" b="0" dirty="0">
                          <a:solidFill>
                            <a:srgbClr val="142B4D"/>
                          </a:solidFill>
                          <a:latin typeface="Arial"/>
                        </a:rPr>
                        <a:t>Logistic Regression</a:t>
                      </a:r>
                    </a:p>
                  </a:txBody>
                  <a:tcPr marL="54864" marR="54864" marT="18288" marB="18288" anchor="ctr">
                    <a:solidFill>
                      <a:srgbClr val="EAF3F5"/>
                    </a:solidFill>
                  </a:tcPr>
                </a:tc>
                <a:tc>
                  <a:txBody>
                    <a:bodyPr wrap="square"/>
                    <a:lstStyle/>
                    <a:p>
                      <a:pPr algn="ctr"/>
                      <a:r>
                        <a:rPr sz="1300" b="0" dirty="0">
                          <a:solidFill>
                            <a:srgbClr val="142B4D"/>
                          </a:solidFill>
                          <a:latin typeface="Arial"/>
                        </a:rPr>
                        <a:t>morgan</a:t>
                      </a:r>
                    </a:p>
                  </a:txBody>
                  <a:tcPr marL="54864" marR="54864" marT="18288" marB="18288" anchor="ctr">
                    <a:solidFill>
                      <a:srgbClr val="EAF3F5"/>
                    </a:solidFill>
                  </a:tcPr>
                </a:tc>
                <a:tc>
                  <a:txBody>
                    <a:bodyPr wrap="square"/>
                    <a:lstStyle/>
                    <a:p>
                      <a:pPr algn="ctr"/>
                      <a:r>
                        <a:rPr sz="1300" b="0" dirty="0">
                          <a:solidFill>
                            <a:srgbClr val="142B4D"/>
                          </a:solidFill>
                          <a:latin typeface="Arial"/>
                        </a:rPr>
                        <a:t>C = 0.03, l1_ratio = 0.0 (L2 penalty)</a:t>
                      </a:r>
                    </a:p>
                  </a:txBody>
                  <a:tcPr marL="54864" marR="54864" marT="18288" marB="18288" anchor="ctr">
                    <a:solidFill>
                      <a:srgbClr val="EAF3F5"/>
                    </a:solidFill>
                  </a:tcPr>
                </a:tc>
              </a:tr>
              <a:tr h="420624">
                <a:tc>
                  <a:txBody>
                    <a:bodyPr wrap="square"/>
                    <a:lstStyle/>
                    <a:p>
                      <a:pPr algn="l"/>
                      <a:r>
                        <a:rPr sz="1300" b="0" dirty="0">
                          <a:solidFill>
                            <a:srgbClr val="142B4D"/>
                          </a:solidFill>
                          <a:latin typeface="Arial"/>
                        </a:rPr>
                        <a:t>Logistic Regression</a:t>
                      </a:r>
                    </a:p>
                  </a:txBody>
                  <a:tcPr marL="54864" marR="54864" marT="18288" marB="18288" anchor="ctr">
                    <a:solidFill>
                      <a:srgbClr val="FFFFFF"/>
                    </a:solidFill>
                  </a:tcPr>
                </a:tc>
                <a:tc>
                  <a:txBody>
                    <a:bodyPr wrap="square"/>
                    <a:lstStyle/>
                    <a:p>
                      <a:pPr algn="ctr"/>
                      <a:r>
                        <a:rPr sz="1300" b="0" dirty="0">
                          <a:solidFill>
                            <a:srgbClr val="142B4D"/>
                          </a:solidFill>
                          <a:latin typeface="Arial"/>
                        </a:rPr>
                        <a:t>morgan+desc</a:t>
                      </a:r>
                    </a:p>
                  </a:txBody>
                  <a:tcPr marL="54864" marR="54864" marT="18288" marB="18288" anchor="ctr">
                    <a:solidFill>
                      <a:srgbClr val="FFFFFF"/>
                    </a:solidFill>
                  </a:tcPr>
                </a:tc>
                <a:tc>
                  <a:txBody>
                    <a:bodyPr wrap="square"/>
                    <a:lstStyle/>
                    <a:p>
                      <a:pPr algn="ctr"/>
                      <a:r>
                        <a:rPr sz="1300" b="0" dirty="0">
                          <a:solidFill>
                            <a:srgbClr val="142B4D"/>
                          </a:solidFill>
                          <a:latin typeface="Arial"/>
                        </a:rPr>
                        <a:t>C = 0.03, l1_ratio = 0.0 (L2 penalty)</a:t>
                      </a:r>
                    </a:p>
                  </a:txBody>
                  <a:tcPr marL="54864" marR="54864" marT="18288" marB="18288" anchor="ctr">
                    <a:solidFill>
                      <a:srgbClr val="FFFFFF"/>
                    </a:solidFill>
                  </a:tcPr>
                </a:tc>
              </a:tr>
              <a:tr h="420624">
                <a:tc>
                  <a:txBody>
                    <a:bodyPr wrap="square"/>
                    <a:lstStyle/>
                    <a:p>
                      <a:pPr algn="l"/>
                      <a:r>
                        <a:rPr sz="1300" b="0" dirty="0">
                          <a:solidFill>
                            <a:srgbClr val="142B4D"/>
                          </a:solidFill>
                          <a:latin typeface="Arial"/>
                        </a:rPr>
                        <a:t>Random Forest</a:t>
                      </a:r>
                    </a:p>
                  </a:txBody>
                  <a:tcPr marL="54864" marR="54864" marT="18288" marB="18288" anchor="ctr">
                    <a:solidFill>
                      <a:srgbClr val="EAF3F5"/>
                    </a:solidFill>
                  </a:tcPr>
                </a:tc>
                <a:tc>
                  <a:txBody>
                    <a:bodyPr wrap="square"/>
                    <a:lstStyle/>
                    <a:p>
                      <a:pPr algn="ctr"/>
                      <a:r>
                        <a:rPr sz="1300" b="0" dirty="0">
                          <a:solidFill>
                            <a:srgbClr val="142B4D"/>
                          </a:solidFill>
                          <a:latin typeface="Arial"/>
                        </a:rPr>
                        <a:t>morgan</a:t>
                      </a:r>
                    </a:p>
                  </a:txBody>
                  <a:tcPr marL="54864" marR="54864" marT="18288" marB="18288" anchor="ctr">
                    <a:solidFill>
                      <a:srgbClr val="EAF3F5"/>
                    </a:solidFill>
                  </a:tcPr>
                </a:tc>
                <a:tc>
                  <a:txBody>
                    <a:bodyPr wrap="square"/>
                    <a:lstStyle/>
                    <a:p>
                      <a:pPr algn="ctr"/>
                      <a:r>
                        <a:rPr sz="1300" b="0" dirty="0">
                          <a:solidFill>
                            <a:srgbClr val="142B4D"/>
                          </a:solidFill>
                          <a:latin typeface="Arial"/>
                        </a:rPr>
                        <a:t>300 trees, max_depth = None, min_samples_leaf = 1</a:t>
                      </a:r>
                    </a:p>
                  </a:txBody>
                  <a:tcPr marL="54864" marR="54864" marT="18288" marB="18288" anchor="ctr">
                    <a:solidFill>
                      <a:srgbClr val="EAF3F5"/>
                    </a:solidFill>
                  </a:tcPr>
                </a:tc>
              </a:tr>
              <a:tr h="420624">
                <a:tc>
                  <a:txBody>
                    <a:bodyPr wrap="square"/>
                    <a:lstStyle/>
                    <a:p>
                      <a:pPr algn="l"/>
                      <a:r>
                        <a:rPr sz="1300" b="0" dirty="0">
                          <a:solidFill>
                            <a:srgbClr val="142B4D"/>
                          </a:solidFill>
                          <a:latin typeface="Arial"/>
                        </a:rPr>
                        <a:t>Random Forest</a:t>
                      </a:r>
                    </a:p>
                  </a:txBody>
                  <a:tcPr marL="54864" marR="54864" marT="18288" marB="18288" anchor="ctr">
                    <a:solidFill>
                      <a:srgbClr val="FFFFFF"/>
                    </a:solidFill>
                  </a:tcPr>
                </a:tc>
                <a:tc>
                  <a:txBody>
                    <a:bodyPr wrap="square"/>
                    <a:lstStyle/>
                    <a:p>
                      <a:pPr algn="ctr"/>
                      <a:r>
                        <a:rPr sz="1300" b="0" dirty="0">
                          <a:solidFill>
                            <a:srgbClr val="142B4D"/>
                          </a:solidFill>
                          <a:latin typeface="Arial"/>
                        </a:rPr>
                        <a:t>morgan+desc</a:t>
                      </a:r>
                    </a:p>
                  </a:txBody>
                  <a:tcPr marL="54864" marR="54864" marT="18288" marB="18288" anchor="ctr">
                    <a:solidFill>
                      <a:srgbClr val="FFFFFF"/>
                    </a:solidFill>
                  </a:tcPr>
                </a:tc>
                <a:tc>
                  <a:txBody>
                    <a:bodyPr wrap="square"/>
                    <a:lstStyle/>
                    <a:p>
                      <a:pPr algn="ctr"/>
                      <a:r>
                        <a:rPr sz="1300" b="0" dirty="0">
                          <a:solidFill>
                            <a:srgbClr val="142B4D"/>
                          </a:solidFill>
                          <a:latin typeface="Arial"/>
                        </a:rPr>
                        <a:t>300 trees, max_depth = None, min_samples_leaf = 1</a:t>
                      </a:r>
                    </a:p>
                  </a:txBody>
                  <a:tcPr marL="54864" marR="54864" marT="18288" marB="18288" anchor="ctr">
                    <a:solidFill>
                      <a:srgbClr val="FFFFFF"/>
                    </a:solidFill>
                  </a:tcPr>
                </a:tc>
              </a:tr>
              <a:tr h="420624">
                <a:tc>
                  <a:txBody>
                    <a:bodyPr wrap="square"/>
                    <a:lstStyle/>
                    <a:p>
                      <a:pPr algn="l"/>
                      <a:r>
                        <a:rPr sz="1300" b="0" dirty="0">
                          <a:solidFill>
                            <a:srgbClr val="142B4D"/>
                          </a:solidFill>
                          <a:latin typeface="Arial"/>
                        </a:rPr>
                        <a:t>XGBoost</a:t>
                      </a:r>
                    </a:p>
                  </a:txBody>
                  <a:tcPr marL="54864" marR="54864" marT="18288" marB="18288" anchor="ctr">
                    <a:solidFill>
                      <a:srgbClr val="EAF3F5"/>
                    </a:solidFill>
                  </a:tcPr>
                </a:tc>
                <a:tc>
                  <a:txBody>
                    <a:bodyPr wrap="square"/>
                    <a:lstStyle/>
                    <a:p>
                      <a:pPr algn="ctr"/>
                      <a:r>
                        <a:rPr sz="1300" b="0" dirty="0">
                          <a:solidFill>
                            <a:srgbClr val="142B4D"/>
                          </a:solidFill>
                          <a:latin typeface="Arial"/>
                        </a:rPr>
                        <a:t>morgan</a:t>
                      </a:r>
                    </a:p>
                  </a:txBody>
                  <a:tcPr marL="54864" marR="54864" marT="18288" marB="18288" anchor="ctr">
                    <a:solidFill>
                      <a:srgbClr val="EAF3F5"/>
                    </a:solidFill>
                  </a:tcPr>
                </a:tc>
                <a:tc>
                  <a:txBody>
                    <a:bodyPr wrap="square"/>
                    <a:lstStyle/>
                    <a:p>
                      <a:pPr algn="ctr"/>
                      <a:r>
                        <a:rPr sz="1300" b="0" dirty="0">
                          <a:solidFill>
                            <a:srgbClr val="142B4D"/>
                          </a:solidFill>
                          <a:latin typeface="Arial"/>
                        </a:rPr>
                        <a:t>max_depth = 6, learning_rate = 0.03, 600 trees</a:t>
                      </a:r>
                    </a:p>
                  </a:txBody>
                  <a:tcPr marL="54864" marR="54864" marT="18288" marB="18288" anchor="ctr">
                    <a:solidFill>
                      <a:srgbClr val="EAF3F5"/>
                    </a:solidFill>
                  </a:tcPr>
                </a:tc>
              </a:tr>
              <a:tr h="420624">
                <a:tc>
                  <a:txBody>
                    <a:bodyPr wrap="square"/>
                    <a:lstStyle/>
                    <a:p>
                      <a:pPr algn="l"/>
                      <a:r>
                        <a:rPr sz="1300" b="0" dirty="0">
                          <a:solidFill>
                            <a:srgbClr val="142B4D"/>
                          </a:solidFill>
                          <a:latin typeface="Arial"/>
                        </a:rPr>
                        <a:t>XGBoost</a:t>
                      </a:r>
                    </a:p>
                  </a:txBody>
                  <a:tcPr marL="54864" marR="54864" marT="18288" marB="18288" anchor="ctr">
                    <a:solidFill>
                      <a:srgbClr val="FFFFFF"/>
                    </a:solidFill>
                  </a:tcPr>
                </a:tc>
                <a:tc>
                  <a:txBody>
                    <a:bodyPr wrap="square"/>
                    <a:lstStyle/>
                    <a:p>
                      <a:pPr algn="ctr"/>
                      <a:r>
                        <a:rPr sz="1300" b="0" dirty="0">
                          <a:solidFill>
                            <a:srgbClr val="142B4D"/>
                          </a:solidFill>
                          <a:latin typeface="Arial"/>
                        </a:rPr>
                        <a:t>morgan+desc</a:t>
                      </a:r>
                    </a:p>
                  </a:txBody>
                  <a:tcPr marL="54864" marR="54864" marT="18288" marB="18288" anchor="ctr">
                    <a:solidFill>
                      <a:srgbClr val="FFFFFF"/>
                    </a:solidFill>
                  </a:tcPr>
                </a:tc>
                <a:tc>
                  <a:txBody>
                    <a:bodyPr wrap="square"/>
                    <a:lstStyle/>
                    <a:p>
                      <a:pPr algn="ctr"/>
                      <a:r>
                        <a:rPr sz="1300" b="0" dirty="0">
                          <a:solidFill>
                            <a:srgbClr val="142B4D"/>
                          </a:solidFill>
                          <a:latin typeface="Arial"/>
                        </a:rPr>
                        <a:t>max_depth = 7, learning_rate = 0.05, 500 trees</a:t>
                      </a:r>
                    </a:p>
                  </a:txBody>
                  <a:tcPr marL="54864" marR="54864" marT="18288" marB="18288" anchor="ctr">
                    <a:solidFill>
                      <a:srgbClr val="FFFFFF"/>
                    </a:solidFill>
                  </a:tcPr>
                </a:tc>
              </a:tr>
            </a:tbl>
          </a:graphicData>
        </a:graphic>
      </p:graphicFrame>
      <p:sp>
        <p:nvSpPr>
          <p:cNvPr id="7" name="TextBox 6"/>
          <p:cNvSpPr txBox="1"/>
          <p:nvPr/>
        </p:nvSpPr>
        <p:spPr>
          <a:xfrm>
            <a:off x="548640" y="4480560"/>
            <a:ext cx="7223760" cy="1828800"/>
          </a:xfrm>
          <a:prstGeom prst="rect">
            <a:avLst/>
          </a:prstGeom>
          <a:noFill/>
        </p:spPr>
        <p:txBody>
          <a:bodyPr wrap="square" anchor="t" lIns="45720" rIns="45720">
            <a:spAutoFit/>
          </a:bodyPr>
          <a:lstStyle/>
          <a:p>
            <a:pPr algn="l">
              <a:spcAft>
                <a:spcPts val="800"/>
              </a:spcAft>
            </a:pPr>
            <a:r>
              <a:rPr sz="1600" b="0" dirty="0">
                <a:solidFill>
                  <a:srgbClr val="142B4D"/>
                </a:solidFill>
                <a:latin typeface="Arial"/>
              </a:rPr>
              <a:t>•  One classifier per endpoint, labeled training rows only</a:t>
            </a:r>
          </a:p>
          <a:p>
            <a:pPr algn="l">
              <a:spcAft>
                <a:spcPts val="800"/>
              </a:spcAft>
            </a:pPr>
            <a:r>
              <a:rPr sz="1600" b="0" dirty="0">
                <a:solidFill>
                  <a:srgbClr val="142B4D"/>
                </a:solidFill>
                <a:latin typeface="Arial"/>
              </a:rPr>
              <a:t>•  Imbalance: class weights (LR, RF), scale_pos_weight (XGBoost)</a:t>
            </a:r>
          </a:p>
          <a:p>
            <a:pPr algn="l">
              <a:spcAft>
                <a:spcPts val="800"/>
              </a:spcAft>
            </a:pPr>
            <a:r>
              <a:rPr sz="1600" b="0" dirty="0">
                <a:solidFill>
                  <a:srgbClr val="142B4D"/>
                </a:solidFill>
                <a:latin typeface="Arial"/>
              </a:rPr>
              <a:t>•  Tuning: 8 configs per model and feature set, mean validation PR AUC, seed 0, scaffold split</a:t>
            </a:r>
          </a:p>
        </p:txBody>
      </p:sp>
      <p:sp>
        <p:nvSpPr>
          <p:cNvPr id="8" name="Rounded Rectangle 7"/>
          <p:cNvSpPr/>
          <p:nvPr/>
        </p:nvSpPr>
        <p:spPr>
          <a:xfrm>
            <a:off x="8046720" y="1371600"/>
            <a:ext cx="3611880" cy="4754880"/>
          </a:xfrm>
          <a:prstGeom prst="roundRect">
            <a:avLst/>
          </a:prstGeom>
          <a:solidFill>
            <a:srgbClr val="EAF3F5"/>
          </a:solidFill>
          <a:ln>
            <a:solidFill>
              <a:srgbClr val="B23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83879" y="1463040"/>
            <a:ext cx="3383280" cy="4572000"/>
          </a:xfrm>
          <a:prstGeom prst="rect">
            <a:avLst/>
          </a:prstGeom>
          <a:noFill/>
        </p:spPr>
        <p:txBody>
          <a:bodyPr wrap="square" anchor="t" lIns="45720" rIns="45720">
            <a:spAutoFit/>
          </a:bodyPr>
          <a:lstStyle/>
          <a:p>
            <a:pPr algn="l">
              <a:spcAft>
                <a:spcPts val="800"/>
              </a:spcAft>
            </a:pPr>
            <a:r>
              <a:rPr sz="2000" b="1" dirty="0">
                <a:solidFill>
                  <a:srgbClr val="B23A3A"/>
                </a:solidFill>
                <a:latin typeface="Arial"/>
              </a:rPr>
              <a:t>Freeze proof</a:t>
            </a:r>
          </a:p>
          <a:p>
            <a:pPr algn="l">
              <a:spcAft>
                <a:spcPts val="800"/>
              </a:spcAft>
            </a:pPr>
            <a:r>
              <a:rPr sz="1500" b="0" dirty="0">
                <a:solidFill>
                  <a:srgbClr val="142B4D"/>
                </a:solidFill>
                <a:latin typeface="Arial"/>
              </a:rPr>
              <a:t>041892c  2026-10-25 19:41:39 +05:30
freeze tuned configs before test run</a:t>
            </a:r>
          </a:p>
          <a:p>
            <a:pPr algn="l">
              <a:spcAft>
                <a:spcPts val="800"/>
              </a:spcAft>
            </a:pPr>
            <a:r>
              <a:rPr sz="1500" b="0" dirty="0">
                <a:solidFill>
                  <a:srgbClr val="555F6B"/>
                </a:solidFill>
                <a:latin typeface="Arial"/>
              </a:rPr>
              <a:t>then</a:t>
            </a:r>
          </a:p>
          <a:p>
            <a:pPr algn="l">
              <a:spcAft>
                <a:spcPts val="800"/>
              </a:spcAft>
            </a:pPr>
            <a:r>
              <a:rPr sz="1500" b="0" dirty="0">
                <a:solidFill>
                  <a:srgbClr val="142B4D"/>
                </a:solidFill>
                <a:latin typeface="Arial"/>
              </a:rPr>
              <a:t>043c2ed  2026-10-25 19:52:52 +05:30
final test results: 432 rows and 36 prediction files</a:t>
            </a:r>
          </a:p>
          <a:p>
            <a:pPr algn="l">
              <a:spcAft>
                <a:spcPts val="800"/>
              </a:spcAft>
            </a:pPr>
            <a:r>
              <a:rPr sz="1500" b="0" dirty="0">
                <a:solidFill>
                  <a:srgbClr val="142B4D"/>
                </a:solidFill>
                <a:latin typeface="Arial"/>
              </a:rPr>
              <a:t>041892c is an ancestor of 043c2ed. The final-test script refuses to run unless best_configs.json is tracked, unmodified and in git history.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nchor="ctr" lIns="45720" rIns="45720">
            <a:spAutoFit/>
          </a:bodyPr>
          <a:lstStyle/>
          <a:p>
            <a:pPr algn="l">
              <a:spcAft>
                <a:spcPts val="800"/>
              </a:spcAft>
            </a:pPr>
            <a:r>
              <a:rPr sz="3000" b="1" dirty="0">
                <a:solidFill>
                  <a:srgbClr val="142B4D"/>
                </a:solidFill>
                <a:latin typeface="Arial"/>
              </a:rPr>
              <a:t>Evaluation protocol</a:t>
            </a:r>
          </a:p>
        </p:txBody>
      </p:sp>
      <p:sp>
        <p:nvSpPr>
          <p:cNvPr id="3" name="Rectangle 2"/>
          <p:cNvSpPr/>
          <p:nvPr/>
        </p:nvSpPr>
        <p:spPr>
          <a:xfrm>
            <a:off x="594360" y="1051560"/>
            <a:ext cx="1463040" cy="54864"/>
          </a:xfrm>
          <a:prstGeom prst="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800"/>
              </a:spcAft>
            </a:pPr>
            <a:r>
              <a:rPr sz="1000" b="0" dirty="0">
                <a:solidFill>
                  <a:srgbClr val="555F6B"/>
                </a:solidFill>
                <a:latin typeface="Arial"/>
              </a:rPr>
              <a:t>Tox21 Phase 1  |  classical ML baseline</a:t>
            </a:r>
          </a:p>
        </p:txBody>
      </p:sp>
      <p:sp>
        <p:nvSpPr>
          <p:cNvPr id="5" name="TextBox 4"/>
          <p:cNvSpPr txBox="1"/>
          <p:nvPr/>
        </p:nvSpPr>
        <p:spPr>
          <a:xfrm>
            <a:off x="10881360" y="6446520"/>
            <a:ext cx="822960" cy="274320"/>
          </a:xfrm>
          <a:prstGeom prst="rect">
            <a:avLst/>
          </a:prstGeom>
          <a:noFill/>
        </p:spPr>
        <p:txBody>
          <a:bodyPr wrap="square" anchor="t" lIns="45720" rIns="45720">
            <a:spAutoFit/>
          </a:bodyPr>
          <a:lstStyle/>
          <a:p>
            <a:pPr algn="r">
              <a:spcAft>
                <a:spcPts val="800"/>
              </a:spcAft>
            </a:pPr>
            <a:r>
              <a:rPr sz="1000" b="0" dirty="0">
                <a:solidFill>
                  <a:srgbClr val="555F6B"/>
                </a:solidFill>
                <a:latin typeface="Arial"/>
              </a:rPr>
              <a:t>6</a:t>
            </a:r>
          </a:p>
        </p:txBody>
      </p:sp>
      <p:sp>
        <p:nvSpPr>
          <p:cNvPr id="6" name="TextBox 5"/>
          <p:cNvSpPr txBox="1"/>
          <p:nvPr/>
        </p:nvSpPr>
        <p:spPr>
          <a:xfrm>
            <a:off x="548640" y="1371600"/>
            <a:ext cx="11064240" cy="4937760"/>
          </a:xfrm>
          <a:prstGeom prst="rect">
            <a:avLst/>
          </a:prstGeom>
          <a:noFill/>
        </p:spPr>
        <p:txBody>
          <a:bodyPr wrap="square" anchor="t" lIns="45720" rIns="45720">
            <a:spAutoFit/>
          </a:bodyPr>
          <a:lstStyle/>
          <a:p>
            <a:pPr algn="l">
              <a:spcAft>
                <a:spcPts val="800"/>
              </a:spcAft>
            </a:pPr>
            <a:r>
              <a:rPr sz="1900" b="0" dirty="0">
                <a:solidFill>
                  <a:srgbClr val="142B4D"/>
                </a:solidFill>
                <a:latin typeface="Arial"/>
              </a:rPr>
              <a:t>•  Masked metrics: ROC AUC and PR AUC per endpoint on labeled rows; NaN if an evaluation set has a single class</a:t>
            </a:r>
          </a:p>
          <a:p>
            <a:pPr algn="l">
              <a:spcAft>
                <a:spcPts val="800"/>
              </a:spcAft>
            </a:pPr>
            <a:r>
              <a:rPr sz="1900" b="0" dirty="0">
                <a:solidFill>
                  <a:srgbClr val="142B4D"/>
                </a:solidFill>
                <a:latin typeface="Arial"/>
              </a:rPr>
              <a:t>•  PR AUC is shown beside ROC AUC because positives are rare (a random model's PR AUC equals the positive rate)</a:t>
            </a:r>
          </a:p>
          <a:p>
            <a:pPr algn="l">
              <a:spcAft>
                <a:spcPts val="800"/>
              </a:spcAft>
            </a:pPr>
            <a:r>
              <a:rPr sz="1900" b="0" dirty="0">
                <a:solidFill>
                  <a:srgbClr val="142B4D"/>
                </a:solidFill>
                <a:latin typeface="Arial"/>
              </a:rPr>
              <a:t>•  Scaffold split (Bemis–Murcko): largest scaffold groups go to train; all 1,753 acyclic molecules are in train, so scaffold validation and test hold only ring systems</a:t>
            </a:r>
          </a:p>
          <a:p>
            <a:pPr algn="l">
              <a:spcAft>
                <a:spcPts val="800"/>
              </a:spcAft>
            </a:pPr>
            <a:r>
              <a:rPr sz="1900" b="0" dirty="0">
                <a:solidFill>
                  <a:srgbClr val="142B4D"/>
                </a:solidFill>
                <a:latin typeface="Arial"/>
              </a:rPr>
              <a:t>•  Random split also saved: 6,167 train / 771 validation / 771 test for both splits</a:t>
            </a:r>
          </a:p>
          <a:p>
            <a:pPr algn="l">
              <a:spcAft>
                <a:spcPts val="800"/>
              </a:spcAft>
            </a:pPr>
            <a:r>
              <a:rPr sz="1900" b="0" dirty="0">
                <a:solidFill>
                  <a:srgbClr val="142B4D"/>
                </a:solidFill>
                <a:latin typeface="Arial"/>
              </a:rPr>
              <a:t>•  Seeds 0, 1, 2 change model randomness only; the splits are fixed</a:t>
            </a:r>
          </a:p>
          <a:p>
            <a:pPr algn="l">
              <a:spcAft>
                <a:spcPts val="800"/>
              </a:spcAft>
            </a:pPr>
            <a:r>
              <a:rPr sz="1900" b="0" dirty="0">
                <a:solidFill>
                  <a:srgbClr val="142B4D"/>
                </a:solidFill>
                <a:latin typeface="Arial"/>
              </a:rPr>
              <a:t>•  432 final classifiers = 3 models × 2 feature sets × 2 splits × 3 seeds × 12 endpoints</a:t>
            </a:r>
          </a:p>
          <a:p>
            <a:pPr algn="l">
              <a:spcAft>
                <a:spcPts val="800"/>
              </a:spcAft>
            </a:pPr>
            <a:r>
              <a:rPr sz="1900" b="0" dirty="0">
                <a:solidFill>
                  <a:srgbClr val="142B4D"/>
                </a:solidFill>
                <a:latin typeface="Arial"/>
              </a:rPr>
              <a:t>•  Scaffold test has 20 (NR-AR-LBD) to 109 (SR-ARE) positives per endpoint, so endpoint scores are noisy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nchor="ctr" lIns="45720" rIns="45720">
            <a:spAutoFit/>
          </a:bodyPr>
          <a:lstStyle/>
          <a:p>
            <a:pPr algn="l">
              <a:spcAft>
                <a:spcPts val="800"/>
              </a:spcAft>
            </a:pPr>
            <a:r>
              <a:rPr sz="3000" b="1" dirty="0">
                <a:solidFill>
                  <a:srgbClr val="142B4D"/>
                </a:solidFill>
                <a:latin typeface="Arial"/>
              </a:rPr>
              <a:t>Results: scaffold test split</a:t>
            </a:r>
          </a:p>
        </p:txBody>
      </p:sp>
      <p:sp>
        <p:nvSpPr>
          <p:cNvPr id="3" name="Rectangle 2"/>
          <p:cNvSpPr/>
          <p:nvPr/>
        </p:nvSpPr>
        <p:spPr>
          <a:xfrm>
            <a:off x="594360" y="1051560"/>
            <a:ext cx="1463040" cy="54864"/>
          </a:xfrm>
          <a:prstGeom prst="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800"/>
              </a:spcAft>
            </a:pPr>
            <a:r>
              <a:rPr sz="1000" b="0" dirty="0">
                <a:solidFill>
                  <a:srgbClr val="555F6B"/>
                </a:solidFill>
                <a:latin typeface="Arial"/>
              </a:rPr>
              <a:t>Tox21 Phase 1  |  classical ML baseline</a:t>
            </a:r>
          </a:p>
        </p:txBody>
      </p:sp>
      <p:sp>
        <p:nvSpPr>
          <p:cNvPr id="5" name="TextBox 4"/>
          <p:cNvSpPr txBox="1"/>
          <p:nvPr/>
        </p:nvSpPr>
        <p:spPr>
          <a:xfrm>
            <a:off x="10881360" y="6446520"/>
            <a:ext cx="822960" cy="274320"/>
          </a:xfrm>
          <a:prstGeom prst="rect">
            <a:avLst/>
          </a:prstGeom>
          <a:noFill/>
        </p:spPr>
        <p:txBody>
          <a:bodyPr wrap="square" anchor="t" lIns="45720" rIns="45720">
            <a:spAutoFit/>
          </a:bodyPr>
          <a:lstStyle/>
          <a:p>
            <a:pPr algn="r">
              <a:spcAft>
                <a:spcPts val="800"/>
              </a:spcAft>
            </a:pPr>
            <a:r>
              <a:rPr sz="1000" b="0" dirty="0">
                <a:solidFill>
                  <a:srgbClr val="555F6B"/>
                </a:solidFill>
                <a:latin typeface="Arial"/>
              </a:rPr>
              <a:t>7</a:t>
            </a:r>
          </a:p>
        </p:txBody>
      </p:sp>
      <p:graphicFrame>
        <p:nvGraphicFramePr>
          <p:cNvPr id="6" name="Table 5"/>
          <p:cNvGraphicFramePr>
            <a:graphicFrameLocks noGrp="1"/>
          </p:cNvGraphicFramePr>
          <p:nvPr/>
        </p:nvGraphicFramePr>
        <p:xfrm>
          <a:off x="548640" y="1371600"/>
          <a:ext cx="7498080" cy="3200400"/>
        </p:xfrm>
        <a:graphic>
          <a:graphicData uri="http://schemas.openxmlformats.org/drawingml/2006/table">
            <a:tbl>
              <a:tblPr firstRow="1" bandRow="1">
                <a:tableStyleId>{5C22544A-7EE6-4342-B048-85BDC9FD1C3A}</a:tableStyleId>
              </a:tblPr>
              <a:tblGrid>
                <a:gridCol w="2194560"/>
                <a:gridCol w="1737360"/>
                <a:gridCol w="1783080"/>
                <a:gridCol w="1783080"/>
              </a:tblGrid>
              <a:tr h="457200">
                <a:tc>
                  <a:txBody>
                    <a:bodyPr wrap="square"/>
                    <a:lstStyle/>
                    <a:p>
                      <a:pPr algn="l"/>
                      <a:r>
                        <a:rPr sz="1500" b="1" dirty="0">
                          <a:solidFill>
                            <a:srgbClr val="FFFFFF"/>
                          </a:solidFill>
                          <a:latin typeface="Arial"/>
                        </a:rPr>
                        <a:t>Model</a:t>
                      </a:r>
                    </a:p>
                  </a:txBody>
                  <a:tcPr marL="54864" marR="54864" marT="18288" marB="18288" anchor="ctr">
                    <a:solidFill>
                      <a:srgbClr val="142B4D"/>
                    </a:solidFill>
                  </a:tcPr>
                </a:tc>
                <a:tc>
                  <a:txBody>
                    <a:bodyPr wrap="square"/>
                    <a:lstStyle/>
                    <a:p>
                      <a:pPr algn="ctr"/>
                      <a:r>
                        <a:rPr sz="1500" b="1" dirty="0">
                          <a:solidFill>
                            <a:srgbClr val="FFFFFF"/>
                          </a:solidFill>
                          <a:latin typeface="Arial"/>
                        </a:rPr>
                        <a:t>Features</a:t>
                      </a:r>
                    </a:p>
                  </a:txBody>
                  <a:tcPr marL="54864" marR="54864" marT="18288" marB="18288" anchor="ctr">
                    <a:solidFill>
                      <a:srgbClr val="142B4D"/>
                    </a:solidFill>
                  </a:tcPr>
                </a:tc>
                <a:tc>
                  <a:txBody>
                    <a:bodyPr wrap="square"/>
                    <a:lstStyle/>
                    <a:p>
                      <a:pPr algn="ctr"/>
                      <a:r>
                        <a:rPr sz="1500" b="1" dirty="0">
                          <a:solidFill>
                            <a:srgbClr val="FFFFFF"/>
                          </a:solidFill>
                          <a:latin typeface="Arial"/>
                        </a:rPr>
                        <a:t>ROC AUC</a:t>
                      </a:r>
                    </a:p>
                  </a:txBody>
                  <a:tcPr marL="54864" marR="54864" marT="18288" marB="18288" anchor="ctr">
                    <a:solidFill>
                      <a:srgbClr val="142B4D"/>
                    </a:solidFill>
                  </a:tcPr>
                </a:tc>
                <a:tc>
                  <a:txBody>
                    <a:bodyPr wrap="square"/>
                    <a:lstStyle/>
                    <a:p>
                      <a:pPr algn="ctr"/>
                      <a:r>
                        <a:rPr sz="1500" b="1" dirty="0">
                          <a:solidFill>
                            <a:srgbClr val="FFFFFF"/>
                          </a:solidFill>
                          <a:latin typeface="Arial"/>
                        </a:rPr>
                        <a:t>PR AUC</a:t>
                      </a:r>
                    </a:p>
                  </a:txBody>
                  <a:tcPr marL="54864" marR="54864" marT="18288" marB="18288" anchor="ctr">
                    <a:solidFill>
                      <a:srgbClr val="142B4D"/>
                    </a:solidFill>
                  </a:tcPr>
                </a:tc>
              </a:tr>
              <a:tr h="457200">
                <a:tc>
                  <a:txBody>
                    <a:bodyPr wrap="square"/>
                    <a:lstStyle/>
                    <a:p>
                      <a:pPr algn="l"/>
                      <a:r>
                        <a:rPr sz="1500" b="0" dirty="0">
                          <a:solidFill>
                            <a:srgbClr val="142B4D"/>
                          </a:solidFill>
                          <a:latin typeface="Arial"/>
                        </a:rPr>
                        <a:t>Logistic Regression</a:t>
                      </a:r>
                    </a:p>
                  </a:txBody>
                  <a:tcPr marL="54864" marR="54864" marT="18288" marB="18288" anchor="ctr">
                    <a:solidFill>
                      <a:srgbClr val="EAF3F5"/>
                    </a:solidFill>
                  </a:tcPr>
                </a:tc>
                <a:tc>
                  <a:txBody>
                    <a:bodyPr wrap="square"/>
                    <a:lstStyle/>
                    <a:p>
                      <a:pPr algn="ctr"/>
                      <a:r>
                        <a:rPr sz="1500" b="0" dirty="0">
                          <a:solidFill>
                            <a:srgbClr val="142B4D"/>
                          </a:solidFill>
                          <a:latin typeface="Arial"/>
                        </a:rPr>
                        <a:t>Morgan Only</a:t>
                      </a:r>
                    </a:p>
                  </a:txBody>
                  <a:tcPr marL="54864" marR="54864" marT="18288" marB="18288" anchor="ctr">
                    <a:solidFill>
                      <a:srgbClr val="EAF3F5"/>
                    </a:solidFill>
                  </a:tcPr>
                </a:tc>
                <a:tc>
                  <a:txBody>
                    <a:bodyPr wrap="square"/>
                    <a:lstStyle/>
                    <a:p>
                      <a:pPr algn="ctr"/>
                      <a:r>
                        <a:rPr sz="1500" b="0" dirty="0">
                          <a:solidFill>
                            <a:srgbClr val="142B4D"/>
                          </a:solidFill>
                          <a:latin typeface="Arial"/>
                        </a:rPr>
                        <a:t>0.7156 ± 0.0000</a:t>
                      </a:r>
                    </a:p>
                  </a:txBody>
                  <a:tcPr marL="54864" marR="54864" marT="18288" marB="18288" anchor="ctr">
                    <a:solidFill>
                      <a:srgbClr val="EAF3F5"/>
                    </a:solidFill>
                  </a:tcPr>
                </a:tc>
                <a:tc>
                  <a:txBody>
                    <a:bodyPr wrap="square"/>
                    <a:lstStyle/>
                    <a:p>
                      <a:pPr algn="ctr"/>
                      <a:r>
                        <a:rPr sz="1500" b="0" dirty="0">
                          <a:solidFill>
                            <a:srgbClr val="142B4D"/>
                          </a:solidFill>
                          <a:latin typeface="Arial"/>
                        </a:rPr>
                        <a:t>0.3116 ± 0.0000</a:t>
                      </a:r>
                    </a:p>
                  </a:txBody>
                  <a:tcPr marL="54864" marR="54864" marT="18288" marB="18288" anchor="ctr">
                    <a:solidFill>
                      <a:srgbClr val="EAF3F5"/>
                    </a:solidFill>
                  </a:tcPr>
                </a:tc>
              </a:tr>
              <a:tr h="457200">
                <a:tc>
                  <a:txBody>
                    <a:bodyPr wrap="square"/>
                    <a:lstStyle/>
                    <a:p>
                      <a:pPr algn="l"/>
                      <a:r>
                        <a:rPr sz="1500" b="0" dirty="0">
                          <a:solidFill>
                            <a:srgbClr val="142B4D"/>
                          </a:solidFill>
                          <a:latin typeface="Arial"/>
                        </a:rPr>
                        <a:t>Logistic Regression</a:t>
                      </a:r>
                    </a:p>
                  </a:txBody>
                  <a:tcPr marL="54864" marR="54864" marT="18288" marB="18288" anchor="ctr">
                    <a:solidFill>
                      <a:srgbClr val="FFFFFF"/>
                    </a:solidFill>
                  </a:tcPr>
                </a:tc>
                <a:tc>
                  <a:txBody>
                    <a:bodyPr wrap="square"/>
                    <a:lstStyle/>
                    <a:p>
                      <a:pPr algn="ctr"/>
                      <a:r>
                        <a:rPr sz="1500" b="0" dirty="0">
                          <a:solidFill>
                            <a:srgbClr val="142B4D"/>
                          </a:solidFill>
                          <a:latin typeface="Arial"/>
                        </a:rPr>
                        <a:t>Morgan + Desc</a:t>
                      </a:r>
                    </a:p>
                  </a:txBody>
                  <a:tcPr marL="54864" marR="54864" marT="18288" marB="18288" anchor="ctr">
                    <a:solidFill>
                      <a:srgbClr val="FFFFFF"/>
                    </a:solidFill>
                  </a:tcPr>
                </a:tc>
                <a:tc>
                  <a:txBody>
                    <a:bodyPr wrap="square"/>
                    <a:lstStyle/>
                    <a:p>
                      <a:pPr algn="ctr"/>
                      <a:r>
                        <a:rPr sz="1500" b="0" dirty="0">
                          <a:solidFill>
                            <a:srgbClr val="142B4D"/>
                          </a:solidFill>
                          <a:latin typeface="Arial"/>
                        </a:rPr>
                        <a:t>0.7317 ± 0.0000</a:t>
                      </a:r>
                    </a:p>
                  </a:txBody>
                  <a:tcPr marL="54864" marR="54864" marT="18288" marB="18288" anchor="ctr">
                    <a:solidFill>
                      <a:srgbClr val="FFFFFF"/>
                    </a:solidFill>
                  </a:tcPr>
                </a:tc>
                <a:tc>
                  <a:txBody>
                    <a:bodyPr wrap="square"/>
                    <a:lstStyle/>
                    <a:p>
                      <a:pPr algn="ctr"/>
                      <a:r>
                        <a:rPr sz="1500" b="0" dirty="0">
                          <a:solidFill>
                            <a:srgbClr val="142B4D"/>
                          </a:solidFill>
                          <a:latin typeface="Arial"/>
                        </a:rPr>
                        <a:t>0.3122 ± 0.0000</a:t>
                      </a:r>
                    </a:p>
                  </a:txBody>
                  <a:tcPr marL="54864" marR="54864" marT="18288" marB="18288" anchor="ctr">
                    <a:solidFill>
                      <a:srgbClr val="FFFFFF"/>
                    </a:solidFill>
                  </a:tcPr>
                </a:tc>
              </a:tr>
              <a:tr h="457200">
                <a:tc>
                  <a:txBody>
                    <a:bodyPr wrap="square"/>
                    <a:lstStyle/>
                    <a:p>
                      <a:pPr algn="l"/>
                      <a:r>
                        <a:rPr sz="1500" b="0" dirty="0">
                          <a:solidFill>
                            <a:srgbClr val="142B4D"/>
                          </a:solidFill>
                          <a:latin typeface="Arial"/>
                        </a:rPr>
                        <a:t>Random Forest</a:t>
                      </a:r>
                    </a:p>
                  </a:txBody>
                  <a:tcPr marL="54864" marR="54864" marT="18288" marB="18288" anchor="ctr">
                    <a:solidFill>
                      <a:srgbClr val="EAF3F5"/>
                    </a:solidFill>
                  </a:tcPr>
                </a:tc>
                <a:tc>
                  <a:txBody>
                    <a:bodyPr wrap="square"/>
                    <a:lstStyle/>
                    <a:p>
                      <a:pPr algn="ctr"/>
                      <a:r>
                        <a:rPr sz="1500" b="0" dirty="0">
                          <a:solidFill>
                            <a:srgbClr val="142B4D"/>
                          </a:solidFill>
                          <a:latin typeface="Arial"/>
                        </a:rPr>
                        <a:t>Morgan Only</a:t>
                      </a:r>
                    </a:p>
                  </a:txBody>
                  <a:tcPr marL="54864" marR="54864" marT="18288" marB="18288" anchor="ctr">
                    <a:solidFill>
                      <a:srgbClr val="EAF3F5"/>
                    </a:solidFill>
                  </a:tcPr>
                </a:tc>
                <a:tc>
                  <a:txBody>
                    <a:bodyPr wrap="square"/>
                    <a:lstStyle/>
                    <a:p>
                      <a:pPr algn="ctr"/>
                      <a:r>
                        <a:rPr sz="1500" b="0" dirty="0">
                          <a:solidFill>
                            <a:srgbClr val="142B4D"/>
                          </a:solidFill>
                          <a:latin typeface="Arial"/>
                        </a:rPr>
                        <a:t>0.7288 ± 0.0063</a:t>
                      </a:r>
                    </a:p>
                  </a:txBody>
                  <a:tcPr marL="54864" marR="54864" marT="18288" marB="18288" anchor="ctr">
                    <a:solidFill>
                      <a:srgbClr val="EAF3F5"/>
                    </a:solidFill>
                  </a:tcPr>
                </a:tc>
                <a:tc>
                  <a:txBody>
                    <a:bodyPr wrap="square"/>
                    <a:lstStyle/>
                    <a:p>
                      <a:pPr algn="ctr"/>
                      <a:r>
                        <a:rPr sz="1500" b="0" dirty="0">
                          <a:solidFill>
                            <a:srgbClr val="142B4D"/>
                          </a:solidFill>
                          <a:latin typeface="Arial"/>
                        </a:rPr>
                        <a:t>0.3703 ± 0.0016</a:t>
                      </a:r>
                    </a:p>
                  </a:txBody>
                  <a:tcPr marL="54864" marR="54864" marT="18288" marB="18288" anchor="ctr">
                    <a:solidFill>
                      <a:srgbClr val="EAF3F5"/>
                    </a:solidFill>
                  </a:tcPr>
                </a:tc>
              </a:tr>
              <a:tr h="457200">
                <a:tc>
                  <a:txBody>
                    <a:bodyPr wrap="square"/>
                    <a:lstStyle/>
                    <a:p>
                      <a:pPr algn="l"/>
                      <a:r>
                        <a:rPr sz="1500" b="0" dirty="0">
                          <a:solidFill>
                            <a:srgbClr val="142B4D"/>
                          </a:solidFill>
                          <a:latin typeface="Arial"/>
                        </a:rPr>
                        <a:t>Random Forest</a:t>
                      </a:r>
                    </a:p>
                  </a:txBody>
                  <a:tcPr marL="54864" marR="54864" marT="18288" marB="18288" anchor="ctr">
                    <a:solidFill>
                      <a:srgbClr val="FFFFFF"/>
                    </a:solidFill>
                  </a:tcPr>
                </a:tc>
                <a:tc>
                  <a:txBody>
                    <a:bodyPr wrap="square"/>
                    <a:lstStyle/>
                    <a:p>
                      <a:pPr algn="ctr"/>
                      <a:r>
                        <a:rPr sz="1500" b="0" dirty="0">
                          <a:solidFill>
                            <a:srgbClr val="142B4D"/>
                          </a:solidFill>
                          <a:latin typeface="Arial"/>
                        </a:rPr>
                        <a:t>Morgan + Desc</a:t>
                      </a:r>
                    </a:p>
                  </a:txBody>
                  <a:tcPr marL="54864" marR="54864" marT="18288" marB="18288" anchor="ctr">
                    <a:solidFill>
                      <a:srgbClr val="FFFFFF"/>
                    </a:solidFill>
                  </a:tcPr>
                </a:tc>
                <a:tc>
                  <a:txBody>
                    <a:bodyPr wrap="square"/>
                    <a:lstStyle/>
                    <a:p>
                      <a:pPr algn="ctr"/>
                      <a:r>
                        <a:rPr sz="1500" b="1" dirty="0">
                          <a:solidFill>
                            <a:srgbClr val="142B4D"/>
                          </a:solidFill>
                          <a:latin typeface="Arial"/>
                        </a:rPr>
                        <a:t>0.7762 ± 0.0020</a:t>
                      </a:r>
                    </a:p>
                  </a:txBody>
                  <a:tcPr marL="54864" marR="54864" marT="18288" marB="18288" anchor="ctr">
                    <a:solidFill>
                      <a:srgbClr val="D8EFEA"/>
                    </a:solidFill>
                  </a:tcPr>
                </a:tc>
                <a:tc>
                  <a:txBody>
                    <a:bodyPr wrap="square"/>
                    <a:lstStyle/>
                    <a:p>
                      <a:pPr algn="ctr"/>
                      <a:r>
                        <a:rPr sz="1500" b="1" dirty="0">
                          <a:solidFill>
                            <a:srgbClr val="142B4D"/>
                          </a:solidFill>
                          <a:latin typeface="Arial"/>
                        </a:rPr>
                        <a:t>0.4035 ± 0.0042</a:t>
                      </a:r>
                    </a:p>
                  </a:txBody>
                  <a:tcPr marL="54864" marR="54864" marT="18288" marB="18288" anchor="ctr">
                    <a:solidFill>
                      <a:srgbClr val="D8EFEA"/>
                    </a:solidFill>
                  </a:tcPr>
                </a:tc>
              </a:tr>
              <a:tr h="457200">
                <a:tc>
                  <a:txBody>
                    <a:bodyPr wrap="square"/>
                    <a:lstStyle/>
                    <a:p>
                      <a:pPr algn="l"/>
                      <a:r>
                        <a:rPr sz="1500" b="0" dirty="0">
                          <a:solidFill>
                            <a:srgbClr val="142B4D"/>
                          </a:solidFill>
                          <a:latin typeface="Arial"/>
                        </a:rPr>
                        <a:t>XGBoost</a:t>
                      </a:r>
                    </a:p>
                  </a:txBody>
                  <a:tcPr marL="54864" marR="54864" marT="18288" marB="18288" anchor="ctr">
                    <a:solidFill>
                      <a:srgbClr val="EAF3F5"/>
                    </a:solidFill>
                  </a:tcPr>
                </a:tc>
                <a:tc>
                  <a:txBody>
                    <a:bodyPr wrap="square"/>
                    <a:lstStyle/>
                    <a:p>
                      <a:pPr algn="ctr"/>
                      <a:r>
                        <a:rPr sz="1500" b="0" dirty="0">
                          <a:solidFill>
                            <a:srgbClr val="142B4D"/>
                          </a:solidFill>
                          <a:latin typeface="Arial"/>
                        </a:rPr>
                        <a:t>Morgan Only</a:t>
                      </a:r>
                    </a:p>
                  </a:txBody>
                  <a:tcPr marL="54864" marR="54864" marT="18288" marB="18288" anchor="ctr">
                    <a:solidFill>
                      <a:srgbClr val="EAF3F5"/>
                    </a:solidFill>
                  </a:tcPr>
                </a:tc>
                <a:tc>
                  <a:txBody>
                    <a:bodyPr wrap="square"/>
                    <a:lstStyle/>
                    <a:p>
                      <a:pPr algn="ctr"/>
                      <a:r>
                        <a:rPr sz="1500" b="0" dirty="0">
                          <a:solidFill>
                            <a:srgbClr val="142B4D"/>
                          </a:solidFill>
                          <a:latin typeface="Arial"/>
                        </a:rPr>
                        <a:t>0.7020 ± 0.0025</a:t>
                      </a:r>
                    </a:p>
                  </a:txBody>
                  <a:tcPr marL="54864" marR="54864" marT="18288" marB="18288" anchor="ctr">
                    <a:solidFill>
                      <a:srgbClr val="EAF3F5"/>
                    </a:solidFill>
                  </a:tcPr>
                </a:tc>
                <a:tc>
                  <a:txBody>
                    <a:bodyPr wrap="square"/>
                    <a:lstStyle/>
                    <a:p>
                      <a:pPr algn="ctr"/>
                      <a:r>
                        <a:rPr sz="1500" b="0" dirty="0">
                          <a:solidFill>
                            <a:srgbClr val="142B4D"/>
                          </a:solidFill>
                          <a:latin typeface="Arial"/>
                        </a:rPr>
                        <a:t>0.3180 ± 0.0020</a:t>
                      </a:r>
                    </a:p>
                  </a:txBody>
                  <a:tcPr marL="54864" marR="54864" marT="18288" marB="18288" anchor="ctr">
                    <a:solidFill>
                      <a:srgbClr val="EAF3F5"/>
                    </a:solidFill>
                  </a:tcPr>
                </a:tc>
              </a:tr>
              <a:tr h="457200">
                <a:tc>
                  <a:txBody>
                    <a:bodyPr wrap="square"/>
                    <a:lstStyle/>
                    <a:p>
                      <a:pPr algn="l"/>
                      <a:r>
                        <a:rPr sz="1500" b="0" dirty="0">
                          <a:solidFill>
                            <a:srgbClr val="142B4D"/>
                          </a:solidFill>
                          <a:latin typeface="Arial"/>
                        </a:rPr>
                        <a:t>XGBoost</a:t>
                      </a:r>
                    </a:p>
                  </a:txBody>
                  <a:tcPr marL="54864" marR="54864" marT="18288" marB="18288" anchor="ctr">
                    <a:solidFill>
                      <a:srgbClr val="FFFFFF"/>
                    </a:solidFill>
                  </a:tcPr>
                </a:tc>
                <a:tc>
                  <a:txBody>
                    <a:bodyPr wrap="square"/>
                    <a:lstStyle/>
                    <a:p>
                      <a:pPr algn="ctr"/>
                      <a:r>
                        <a:rPr sz="1500" b="0" dirty="0">
                          <a:solidFill>
                            <a:srgbClr val="142B4D"/>
                          </a:solidFill>
                          <a:latin typeface="Arial"/>
                        </a:rPr>
                        <a:t>Morgan + Desc</a:t>
                      </a:r>
                    </a:p>
                  </a:txBody>
                  <a:tcPr marL="54864" marR="54864" marT="18288" marB="18288" anchor="ctr">
                    <a:solidFill>
                      <a:srgbClr val="FFFFFF"/>
                    </a:solidFill>
                  </a:tcPr>
                </a:tc>
                <a:tc>
                  <a:txBody>
                    <a:bodyPr wrap="square"/>
                    <a:lstStyle/>
                    <a:p>
                      <a:pPr algn="ctr"/>
                      <a:r>
                        <a:rPr sz="1500" b="0" dirty="0">
                          <a:solidFill>
                            <a:srgbClr val="142B4D"/>
                          </a:solidFill>
                          <a:latin typeface="Arial"/>
                        </a:rPr>
                        <a:t>0.7606 ± 0.0036</a:t>
                      </a:r>
                    </a:p>
                  </a:txBody>
                  <a:tcPr marL="54864" marR="54864" marT="18288" marB="18288" anchor="ctr">
                    <a:solidFill>
                      <a:srgbClr val="FFFFFF"/>
                    </a:solidFill>
                  </a:tcPr>
                </a:tc>
                <a:tc>
                  <a:txBody>
                    <a:bodyPr wrap="square"/>
                    <a:lstStyle/>
                    <a:p>
                      <a:pPr algn="ctr"/>
                      <a:r>
                        <a:rPr sz="1500" b="0" dirty="0">
                          <a:solidFill>
                            <a:srgbClr val="142B4D"/>
                          </a:solidFill>
                          <a:latin typeface="Arial"/>
                        </a:rPr>
                        <a:t>0.4010 ± 0.0045</a:t>
                      </a:r>
                    </a:p>
                  </a:txBody>
                  <a:tcPr marL="54864" marR="54864" marT="18288" marB="18288" anchor="ctr">
                    <a:solidFill>
                      <a:srgbClr val="FFFFFF"/>
                    </a:solidFill>
                  </a:tcPr>
                </a:tc>
              </a:tr>
            </a:tbl>
          </a:graphicData>
        </a:graphic>
      </p:graphicFrame>
      <p:sp>
        <p:nvSpPr>
          <p:cNvPr id="7" name="TextBox 6"/>
          <p:cNvSpPr txBox="1"/>
          <p:nvPr/>
        </p:nvSpPr>
        <p:spPr>
          <a:xfrm>
            <a:off x="548640" y="4754880"/>
            <a:ext cx="7498079" cy="1463040"/>
          </a:xfrm>
          <a:prstGeom prst="rect">
            <a:avLst/>
          </a:prstGeom>
          <a:noFill/>
        </p:spPr>
        <p:txBody>
          <a:bodyPr wrap="square" anchor="t" lIns="45720" rIns="45720">
            <a:spAutoFit/>
          </a:bodyPr>
          <a:lstStyle/>
          <a:p>
            <a:pPr algn="l">
              <a:spcAft>
                <a:spcPts val="800"/>
              </a:spcAft>
            </a:pPr>
            <a:r>
              <a:rPr sz="1400" b="0" dirty="0">
                <a:solidFill>
                  <a:srgbClr val="555F6B"/>
                </a:solidFill>
                <a:latin typeface="Arial"/>
              </a:rPr>
              <a:t>Scaffold test; mean over 12 endpoints, then mean ± sample sd over seeds 0, 1, 2. Bold + teal highlight marks the column best. LR is deterministic (sd 0.0000).</a:t>
            </a:r>
          </a:p>
        </p:txBody>
      </p:sp>
      <p:sp>
        <p:nvSpPr>
          <p:cNvPr id="8" name="TextBox 7"/>
          <p:cNvSpPr txBox="1"/>
          <p:nvPr/>
        </p:nvSpPr>
        <p:spPr>
          <a:xfrm>
            <a:off x="8321040" y="1371600"/>
            <a:ext cx="3383280" cy="4846320"/>
          </a:xfrm>
          <a:prstGeom prst="rect">
            <a:avLst/>
          </a:prstGeom>
          <a:noFill/>
        </p:spPr>
        <p:txBody>
          <a:bodyPr wrap="square" anchor="t" lIns="45720" rIns="45720">
            <a:spAutoFit/>
          </a:bodyPr>
          <a:lstStyle/>
          <a:p>
            <a:pPr algn="l">
              <a:spcAft>
                <a:spcPts val="800"/>
              </a:spcAft>
            </a:pPr>
            <a:r>
              <a:rPr sz="1900" b="1" dirty="0">
                <a:solidFill>
                  <a:srgbClr val="142B4D"/>
                </a:solidFill>
                <a:latin typeface="Arial"/>
              </a:rPr>
              <a:t>Reading the table</a:t>
            </a:r>
          </a:p>
          <a:p>
            <a:pPr algn="l">
              <a:spcAft>
                <a:spcPts val="800"/>
              </a:spcAft>
            </a:pPr>
            <a:r>
              <a:rPr sz="1600" b="0" dirty="0">
                <a:solidFill>
                  <a:srgbClr val="142B4D"/>
                </a:solidFill>
                <a:latin typeface="Arial"/>
              </a:rPr>
              <a:t>•  Random Forest + descriptors has the highest mean ROC (0.7762) and PR AUC (0.4035) in our runs</a:t>
            </a:r>
          </a:p>
          <a:p>
            <a:pPr algn="l">
              <a:spcAft>
                <a:spcPts val="800"/>
              </a:spcAft>
            </a:pPr>
            <a:r>
              <a:rPr sz="1600" b="0" dirty="0">
                <a:solidFill>
                  <a:srgbClr val="142B4D"/>
                </a:solidFill>
                <a:latin typeface="Arial"/>
              </a:rPr>
              <a:t>•  XGBoost + descriptors is close: 0.7606 / 0.4010. The PR gap (about 0.003) is below the seed sd (0.004–0.0045)</a:t>
            </a:r>
          </a:p>
          <a:p>
            <a:pPr algn="l">
              <a:spcAft>
                <a:spcPts val="800"/>
              </a:spcAft>
            </a:pPr>
            <a:r>
              <a:rPr sz="1600" b="0" dirty="0">
                <a:solidFill>
                  <a:srgbClr val="142B4D"/>
                </a:solidFill>
                <a:latin typeface="Arial"/>
              </a:rPr>
              <a:t>•  With Morgan only, XGBoost ROC (0.7020) is below Logistic Regression (0.7156)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nchor="ctr" lIns="45720" rIns="45720">
            <a:spAutoFit/>
          </a:bodyPr>
          <a:lstStyle/>
          <a:p>
            <a:pPr algn="l">
              <a:spcAft>
                <a:spcPts val="800"/>
              </a:spcAft>
            </a:pPr>
            <a:r>
              <a:rPr sz="3000" b="1" dirty="0">
                <a:solidFill>
                  <a:srgbClr val="142B4D"/>
                </a:solidFill>
                <a:latin typeface="Arial"/>
              </a:rPr>
              <a:t>Do descriptors help? Paired gain from adding them</a:t>
            </a:r>
          </a:p>
        </p:txBody>
      </p:sp>
      <p:sp>
        <p:nvSpPr>
          <p:cNvPr id="3" name="Rectangle 2"/>
          <p:cNvSpPr/>
          <p:nvPr/>
        </p:nvSpPr>
        <p:spPr>
          <a:xfrm>
            <a:off x="594360" y="1051560"/>
            <a:ext cx="1463040" cy="54864"/>
          </a:xfrm>
          <a:prstGeom prst="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800"/>
              </a:spcAft>
            </a:pPr>
            <a:r>
              <a:rPr sz="1000" b="0" dirty="0">
                <a:solidFill>
                  <a:srgbClr val="555F6B"/>
                </a:solidFill>
                <a:latin typeface="Arial"/>
              </a:rPr>
              <a:t>Tox21 Phase 1  |  classical ML baseline</a:t>
            </a:r>
          </a:p>
        </p:txBody>
      </p:sp>
      <p:sp>
        <p:nvSpPr>
          <p:cNvPr id="5" name="TextBox 4"/>
          <p:cNvSpPr txBox="1"/>
          <p:nvPr/>
        </p:nvSpPr>
        <p:spPr>
          <a:xfrm>
            <a:off x="10881360" y="6446520"/>
            <a:ext cx="822960" cy="274320"/>
          </a:xfrm>
          <a:prstGeom prst="rect">
            <a:avLst/>
          </a:prstGeom>
          <a:noFill/>
        </p:spPr>
        <p:txBody>
          <a:bodyPr wrap="square" anchor="t" lIns="45720" rIns="45720">
            <a:spAutoFit/>
          </a:bodyPr>
          <a:lstStyle/>
          <a:p>
            <a:pPr algn="r">
              <a:spcAft>
                <a:spcPts val="800"/>
              </a:spcAft>
            </a:pPr>
            <a:r>
              <a:rPr sz="1000" b="0" dirty="0">
                <a:solidFill>
                  <a:srgbClr val="555F6B"/>
                </a:solidFill>
                <a:latin typeface="Arial"/>
              </a:rPr>
              <a:t>8</a:t>
            </a:r>
          </a:p>
        </p:txBody>
      </p:sp>
      <p:graphicFrame>
        <p:nvGraphicFramePr>
          <p:cNvPr id="6" name="Table 5"/>
          <p:cNvGraphicFramePr>
            <a:graphicFrameLocks noGrp="1"/>
          </p:cNvGraphicFramePr>
          <p:nvPr/>
        </p:nvGraphicFramePr>
        <p:xfrm>
          <a:off x="548640" y="1463040"/>
          <a:ext cx="6949440" cy="2011680"/>
        </p:xfrm>
        <a:graphic>
          <a:graphicData uri="http://schemas.openxmlformats.org/drawingml/2006/table">
            <a:tbl>
              <a:tblPr firstRow="1" bandRow="1">
                <a:tableStyleId>{5C22544A-7EE6-4342-B048-85BDC9FD1C3A}</a:tableStyleId>
              </a:tblPr>
              <a:tblGrid>
                <a:gridCol w="2377440"/>
                <a:gridCol w="2286000"/>
                <a:gridCol w="2286000"/>
              </a:tblGrid>
              <a:tr h="502920">
                <a:tc>
                  <a:txBody>
                    <a:bodyPr wrap="square"/>
                    <a:lstStyle/>
                    <a:p>
                      <a:pPr algn="l"/>
                      <a:r>
                        <a:rPr sz="1600" b="1" dirty="0">
                          <a:solidFill>
                            <a:srgbClr val="FFFFFF"/>
                          </a:solidFill>
                          <a:latin typeface="Arial"/>
                        </a:rPr>
                        <a:t>Model</a:t>
                      </a:r>
                    </a:p>
                  </a:txBody>
                  <a:tcPr marL="54864" marR="54864" marT="18288" marB="18288" anchor="ctr">
                    <a:solidFill>
                      <a:srgbClr val="142B4D"/>
                    </a:solidFill>
                  </a:tcPr>
                </a:tc>
                <a:tc>
                  <a:txBody>
                    <a:bodyPr wrap="square"/>
                    <a:lstStyle/>
                    <a:p>
                      <a:pPr algn="ctr"/>
                      <a:r>
                        <a:rPr sz="1600" b="1" dirty="0">
                          <a:solidFill>
                            <a:srgbClr val="FFFFFF"/>
                          </a:solidFill>
                          <a:latin typeface="Arial"/>
                        </a:rPr>
                        <a:t>Δ ROC AUC (mean ± sd)</a:t>
                      </a:r>
                    </a:p>
                  </a:txBody>
                  <a:tcPr marL="54864" marR="54864" marT="18288" marB="18288" anchor="ctr">
                    <a:solidFill>
                      <a:srgbClr val="142B4D"/>
                    </a:solidFill>
                  </a:tcPr>
                </a:tc>
                <a:tc>
                  <a:txBody>
                    <a:bodyPr wrap="square"/>
                    <a:lstStyle/>
                    <a:p>
                      <a:pPr algn="ctr"/>
                      <a:r>
                        <a:rPr sz="1600" b="1" dirty="0">
                          <a:solidFill>
                            <a:srgbClr val="FFFFFF"/>
                          </a:solidFill>
                          <a:latin typeface="Arial"/>
                        </a:rPr>
                        <a:t>Δ PR AUC (mean ± sd)</a:t>
                      </a:r>
                    </a:p>
                  </a:txBody>
                  <a:tcPr marL="54864" marR="54864" marT="18288" marB="18288" anchor="ctr">
                    <a:solidFill>
                      <a:srgbClr val="142B4D"/>
                    </a:solidFill>
                  </a:tcPr>
                </a:tc>
              </a:tr>
              <a:tr h="502920">
                <a:tc>
                  <a:txBody>
                    <a:bodyPr wrap="square"/>
                    <a:lstStyle/>
                    <a:p>
                      <a:pPr algn="l"/>
                      <a:r>
                        <a:rPr sz="1600" b="0" dirty="0">
                          <a:solidFill>
                            <a:srgbClr val="142B4D"/>
                          </a:solidFill>
                          <a:latin typeface="Arial"/>
                        </a:rPr>
                        <a:t>Logistic Regression</a:t>
                      </a:r>
                    </a:p>
                  </a:txBody>
                  <a:tcPr marL="54864" marR="54864" marT="18288" marB="18288" anchor="ctr">
                    <a:solidFill>
                      <a:srgbClr val="EAF3F5"/>
                    </a:solidFill>
                  </a:tcPr>
                </a:tc>
                <a:tc>
                  <a:txBody>
                    <a:bodyPr wrap="square"/>
                    <a:lstStyle/>
                    <a:p>
                      <a:pPr algn="ctr"/>
                      <a:r>
                        <a:rPr sz="1600" b="0" dirty="0">
                          <a:solidFill>
                            <a:srgbClr val="142B4D"/>
                          </a:solidFill>
                          <a:latin typeface="Arial"/>
                        </a:rPr>
                        <a:t>+0.0162 ± 0.0000</a:t>
                      </a:r>
                    </a:p>
                  </a:txBody>
                  <a:tcPr marL="54864" marR="54864" marT="18288" marB="18288" anchor="ctr">
                    <a:solidFill>
                      <a:srgbClr val="EAF3F5"/>
                    </a:solidFill>
                  </a:tcPr>
                </a:tc>
                <a:tc>
                  <a:txBody>
                    <a:bodyPr wrap="square"/>
                    <a:lstStyle/>
                    <a:p>
                      <a:pPr algn="ctr"/>
                      <a:r>
                        <a:rPr sz="1600" b="0" dirty="0">
                          <a:solidFill>
                            <a:srgbClr val="142B4D"/>
                          </a:solidFill>
                          <a:latin typeface="Arial"/>
                        </a:rPr>
                        <a:t>+0.0006 ± 0.0000</a:t>
                      </a:r>
                    </a:p>
                  </a:txBody>
                  <a:tcPr marL="54864" marR="54864" marT="18288" marB="18288" anchor="ctr">
                    <a:solidFill>
                      <a:srgbClr val="EAF3F5"/>
                    </a:solidFill>
                  </a:tcPr>
                </a:tc>
              </a:tr>
              <a:tr h="502920">
                <a:tc>
                  <a:txBody>
                    <a:bodyPr wrap="square"/>
                    <a:lstStyle/>
                    <a:p>
                      <a:pPr algn="l"/>
                      <a:r>
                        <a:rPr sz="1600" b="0" dirty="0">
                          <a:solidFill>
                            <a:srgbClr val="142B4D"/>
                          </a:solidFill>
                          <a:latin typeface="Arial"/>
                        </a:rPr>
                        <a:t>Random Forest</a:t>
                      </a:r>
                    </a:p>
                  </a:txBody>
                  <a:tcPr marL="54864" marR="54864" marT="18288" marB="18288" anchor="ctr">
                    <a:solidFill>
                      <a:srgbClr val="FFFFFF"/>
                    </a:solidFill>
                  </a:tcPr>
                </a:tc>
                <a:tc>
                  <a:txBody>
                    <a:bodyPr wrap="square"/>
                    <a:lstStyle/>
                    <a:p>
                      <a:pPr algn="ctr"/>
                      <a:r>
                        <a:rPr sz="1600" b="0" dirty="0">
                          <a:solidFill>
                            <a:srgbClr val="142B4D"/>
                          </a:solidFill>
                          <a:latin typeface="Arial"/>
                        </a:rPr>
                        <a:t>+0.0474 ± 0.0074</a:t>
                      </a:r>
                    </a:p>
                  </a:txBody>
                  <a:tcPr marL="54864" marR="54864" marT="18288" marB="18288" anchor="ctr">
                    <a:solidFill>
                      <a:srgbClr val="FFFFFF"/>
                    </a:solidFill>
                  </a:tcPr>
                </a:tc>
                <a:tc>
                  <a:txBody>
                    <a:bodyPr wrap="square"/>
                    <a:lstStyle/>
                    <a:p>
                      <a:pPr algn="ctr"/>
                      <a:r>
                        <a:rPr sz="1600" b="0" dirty="0">
                          <a:solidFill>
                            <a:srgbClr val="142B4D"/>
                          </a:solidFill>
                          <a:latin typeface="Arial"/>
                        </a:rPr>
                        <a:t>+0.0333 ± 0.0031</a:t>
                      </a:r>
                    </a:p>
                  </a:txBody>
                  <a:tcPr marL="54864" marR="54864" marT="18288" marB="18288" anchor="ctr">
                    <a:solidFill>
                      <a:srgbClr val="FFFFFF"/>
                    </a:solidFill>
                  </a:tcPr>
                </a:tc>
              </a:tr>
              <a:tr h="502920">
                <a:tc>
                  <a:txBody>
                    <a:bodyPr wrap="square"/>
                    <a:lstStyle/>
                    <a:p>
                      <a:pPr algn="l"/>
                      <a:r>
                        <a:rPr sz="1600" b="0" dirty="0">
                          <a:solidFill>
                            <a:srgbClr val="142B4D"/>
                          </a:solidFill>
                          <a:latin typeface="Arial"/>
                        </a:rPr>
                        <a:t>XGBoost</a:t>
                      </a:r>
                    </a:p>
                  </a:txBody>
                  <a:tcPr marL="54864" marR="54864" marT="18288" marB="18288" anchor="ctr">
                    <a:solidFill>
                      <a:srgbClr val="EAF3F5"/>
                    </a:solidFill>
                  </a:tcPr>
                </a:tc>
                <a:tc>
                  <a:txBody>
                    <a:bodyPr wrap="square"/>
                    <a:lstStyle/>
                    <a:p>
                      <a:pPr algn="ctr"/>
                      <a:r>
                        <a:rPr sz="1600" b="0" dirty="0">
                          <a:solidFill>
                            <a:srgbClr val="142B4D"/>
                          </a:solidFill>
                          <a:latin typeface="Arial"/>
                        </a:rPr>
                        <a:t>+0.0586 ± 0.0059</a:t>
                      </a:r>
                    </a:p>
                  </a:txBody>
                  <a:tcPr marL="54864" marR="54864" marT="18288" marB="18288" anchor="ctr">
                    <a:solidFill>
                      <a:srgbClr val="EAF3F5"/>
                    </a:solidFill>
                  </a:tcPr>
                </a:tc>
                <a:tc>
                  <a:txBody>
                    <a:bodyPr wrap="square"/>
                    <a:lstStyle/>
                    <a:p>
                      <a:pPr algn="ctr"/>
                      <a:r>
                        <a:rPr sz="1600" b="0" dirty="0">
                          <a:solidFill>
                            <a:srgbClr val="142B4D"/>
                          </a:solidFill>
                          <a:latin typeface="Arial"/>
                        </a:rPr>
                        <a:t>+0.0829 ± 0.0025</a:t>
                      </a:r>
                    </a:p>
                  </a:txBody>
                  <a:tcPr marL="54864" marR="54864" marT="18288" marB="18288" anchor="ctr">
                    <a:solidFill>
                      <a:srgbClr val="EAF3F5"/>
                    </a:solidFill>
                  </a:tcPr>
                </a:tc>
              </a:tr>
            </a:tbl>
          </a:graphicData>
        </a:graphic>
      </p:graphicFrame>
      <p:sp>
        <p:nvSpPr>
          <p:cNvPr id="7" name="TextBox 6"/>
          <p:cNvSpPr txBox="1"/>
          <p:nvPr/>
        </p:nvSpPr>
        <p:spPr>
          <a:xfrm>
            <a:off x="548640" y="3657600"/>
            <a:ext cx="6949440" cy="2560320"/>
          </a:xfrm>
          <a:prstGeom prst="rect">
            <a:avLst/>
          </a:prstGeom>
          <a:noFill/>
        </p:spPr>
        <p:txBody>
          <a:bodyPr wrap="square" anchor="t" lIns="45720" rIns="45720">
            <a:spAutoFit/>
          </a:bodyPr>
          <a:lstStyle/>
          <a:p>
            <a:pPr algn="l">
              <a:spcAft>
                <a:spcPts val="800"/>
              </a:spcAft>
            </a:pPr>
            <a:r>
              <a:rPr sz="1800" b="0" dirty="0">
                <a:solidFill>
                  <a:srgbClr val="142B4D"/>
                </a:solidFill>
                <a:latin typeface="Arial"/>
              </a:rPr>
              <a:t>•  Logistic Regression: PR AUC gain is +0.0006, i.e. essentially none</a:t>
            </a:r>
          </a:p>
          <a:p>
            <a:pPr algn="l">
              <a:spcAft>
                <a:spcPts val="800"/>
              </a:spcAft>
            </a:pPr>
            <a:r>
              <a:rPr sz="1800" b="0" dirty="0">
                <a:solidFill>
                  <a:srgbClr val="142B4D"/>
                </a:solidFill>
                <a:latin typeface="Arial"/>
              </a:rPr>
              <a:t>•  Random Forest and XGBoost gain more: PR +0.0333 and +0.0829</a:t>
            </a:r>
          </a:p>
          <a:p>
            <a:pPr algn="l">
              <a:spcAft>
                <a:spcPts val="800"/>
              </a:spcAft>
            </a:pPr>
            <a:r>
              <a:rPr sz="1800" b="0" dirty="0">
                <a:solidFill>
                  <a:srgbClr val="555F6B"/>
                </a:solidFill>
                <a:latin typeface="Arial"/>
              </a:rPr>
              <a:t>•  Δ = morgan+desc minus morgan, scaffold test, paired by seed</a:t>
            </a:r>
          </a:p>
        </p:txBody>
      </p:sp>
      <p:pic>
        <p:nvPicPr>
          <p:cNvPr id="8" name="Picture 7" descr="descriptor_benefit.png"/>
          <p:cNvPicPr>
            <a:picLocks noChangeAspect="1"/>
          </p:cNvPicPr>
          <p:nvPr/>
        </p:nvPicPr>
        <p:blipFill>
          <a:blip r:embed="rId3"/>
          <a:stretch>
            <a:fillRect/>
          </a:stretch>
        </p:blipFill>
        <p:spPr>
          <a:xfrm>
            <a:off x="7680960" y="2738632"/>
            <a:ext cx="4114800" cy="183793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nchor="ctr" lIns="45720" rIns="45720">
            <a:spAutoFit/>
          </a:bodyPr>
          <a:lstStyle/>
          <a:p>
            <a:pPr algn="l">
              <a:spcAft>
                <a:spcPts val="800"/>
              </a:spcAft>
            </a:pPr>
            <a:r>
              <a:rPr sz="3000" b="1" dirty="0">
                <a:solidFill>
                  <a:srgbClr val="142B4D"/>
                </a:solidFill>
                <a:latin typeface="Arial"/>
              </a:rPr>
              <a:t>Random vs scaffold split: the generalization gap</a:t>
            </a:r>
          </a:p>
        </p:txBody>
      </p:sp>
      <p:sp>
        <p:nvSpPr>
          <p:cNvPr id="3" name="Rectangle 2"/>
          <p:cNvSpPr/>
          <p:nvPr/>
        </p:nvSpPr>
        <p:spPr>
          <a:xfrm>
            <a:off x="594360" y="1051560"/>
            <a:ext cx="1463040" cy="54864"/>
          </a:xfrm>
          <a:prstGeom prst="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800"/>
              </a:spcAft>
            </a:pPr>
            <a:r>
              <a:rPr sz="1000" b="0" dirty="0">
                <a:solidFill>
                  <a:srgbClr val="555F6B"/>
                </a:solidFill>
                <a:latin typeface="Arial"/>
              </a:rPr>
              <a:t>Tox21 Phase 1  |  classical ML baseline</a:t>
            </a:r>
          </a:p>
        </p:txBody>
      </p:sp>
      <p:sp>
        <p:nvSpPr>
          <p:cNvPr id="5" name="TextBox 4"/>
          <p:cNvSpPr txBox="1"/>
          <p:nvPr/>
        </p:nvSpPr>
        <p:spPr>
          <a:xfrm>
            <a:off x="10881360" y="6446520"/>
            <a:ext cx="822960" cy="274320"/>
          </a:xfrm>
          <a:prstGeom prst="rect">
            <a:avLst/>
          </a:prstGeom>
          <a:noFill/>
        </p:spPr>
        <p:txBody>
          <a:bodyPr wrap="square" anchor="t" lIns="45720" rIns="45720">
            <a:spAutoFit/>
          </a:bodyPr>
          <a:lstStyle/>
          <a:p>
            <a:pPr algn="r">
              <a:spcAft>
                <a:spcPts val="800"/>
              </a:spcAft>
            </a:pPr>
            <a:r>
              <a:rPr sz="1000" b="0" dirty="0">
                <a:solidFill>
                  <a:srgbClr val="555F6B"/>
                </a:solidFill>
                <a:latin typeface="Arial"/>
              </a:rPr>
              <a:t>9</a:t>
            </a:r>
          </a:p>
        </p:txBody>
      </p:sp>
      <p:graphicFrame>
        <p:nvGraphicFramePr>
          <p:cNvPr id="6" name="Table 5"/>
          <p:cNvGraphicFramePr>
            <a:graphicFrameLocks noGrp="1"/>
          </p:cNvGraphicFramePr>
          <p:nvPr/>
        </p:nvGraphicFramePr>
        <p:xfrm>
          <a:off x="548640" y="1371600"/>
          <a:ext cx="6766560" cy="2011680"/>
        </p:xfrm>
        <a:graphic>
          <a:graphicData uri="http://schemas.openxmlformats.org/drawingml/2006/table">
            <a:tbl>
              <a:tblPr firstRow="1" bandRow="1">
                <a:tableStyleId>{5C22544A-7EE6-4342-B048-85BDC9FD1C3A}</a:tableStyleId>
              </a:tblPr>
              <a:tblGrid>
                <a:gridCol w="1920240"/>
                <a:gridCol w="822960"/>
                <a:gridCol w="822960"/>
                <a:gridCol w="777240"/>
                <a:gridCol w="822960"/>
                <a:gridCol w="822960"/>
                <a:gridCol w="777240"/>
              </a:tblGrid>
              <a:tr h="502920">
                <a:tc>
                  <a:txBody>
                    <a:bodyPr wrap="square"/>
                    <a:lstStyle/>
                    <a:p>
                      <a:pPr algn="l"/>
                      <a:r>
                        <a:rPr sz="1300" b="1" dirty="0">
                          <a:solidFill>
                            <a:srgbClr val="FFFFFF"/>
                          </a:solidFill>
                          <a:latin typeface="Arial"/>
                        </a:rPr>
                        <a:t>Model</a:t>
                      </a:r>
                    </a:p>
                  </a:txBody>
                  <a:tcPr marL="54864" marR="54864" marT="18288" marB="18288" anchor="ctr">
                    <a:solidFill>
                      <a:srgbClr val="142B4D"/>
                    </a:solidFill>
                  </a:tcPr>
                </a:tc>
                <a:tc>
                  <a:txBody>
                    <a:bodyPr wrap="square"/>
                    <a:lstStyle/>
                    <a:p>
                      <a:pPr algn="ctr"/>
                      <a:r>
                        <a:rPr sz="1300" b="1" dirty="0">
                          <a:solidFill>
                            <a:srgbClr val="FFFFFF"/>
                          </a:solidFill>
                          <a:latin typeface="Arial"/>
                        </a:rPr>
                        <a:t>Random
ROC</a:t>
                      </a:r>
                    </a:p>
                  </a:txBody>
                  <a:tcPr marL="54864" marR="54864" marT="18288" marB="18288" anchor="ctr">
                    <a:solidFill>
                      <a:srgbClr val="142B4D"/>
                    </a:solidFill>
                  </a:tcPr>
                </a:tc>
                <a:tc>
                  <a:txBody>
                    <a:bodyPr wrap="square"/>
                    <a:lstStyle/>
                    <a:p>
                      <a:pPr algn="ctr"/>
                      <a:r>
                        <a:rPr sz="1300" b="1" dirty="0">
                          <a:solidFill>
                            <a:srgbClr val="FFFFFF"/>
                          </a:solidFill>
                          <a:latin typeface="Arial"/>
                        </a:rPr>
                        <a:t>Scaffold
ROC</a:t>
                      </a:r>
                    </a:p>
                  </a:txBody>
                  <a:tcPr marL="54864" marR="54864" marT="18288" marB="18288" anchor="ctr">
                    <a:solidFill>
                      <a:srgbClr val="142B4D"/>
                    </a:solidFill>
                  </a:tcPr>
                </a:tc>
                <a:tc>
                  <a:txBody>
                    <a:bodyPr wrap="square"/>
                    <a:lstStyle/>
                    <a:p>
                      <a:pPr algn="ctr"/>
                      <a:r>
                        <a:rPr sz="1300" b="1" dirty="0">
                          <a:solidFill>
                            <a:srgbClr val="FFFFFF"/>
                          </a:solidFill>
                          <a:latin typeface="Arial"/>
                        </a:rPr>
                        <a:t>Δ ROC</a:t>
                      </a:r>
                    </a:p>
                  </a:txBody>
                  <a:tcPr marL="54864" marR="54864" marT="18288" marB="18288" anchor="ctr">
                    <a:solidFill>
                      <a:srgbClr val="142B4D"/>
                    </a:solidFill>
                  </a:tcPr>
                </a:tc>
                <a:tc>
                  <a:txBody>
                    <a:bodyPr wrap="square"/>
                    <a:lstStyle/>
                    <a:p>
                      <a:pPr algn="ctr"/>
                      <a:r>
                        <a:rPr sz="1300" b="1" dirty="0">
                          <a:solidFill>
                            <a:srgbClr val="FFFFFF"/>
                          </a:solidFill>
                          <a:latin typeface="Arial"/>
                        </a:rPr>
                        <a:t>Random
PR</a:t>
                      </a:r>
                    </a:p>
                  </a:txBody>
                  <a:tcPr marL="54864" marR="54864" marT="18288" marB="18288" anchor="ctr">
                    <a:solidFill>
                      <a:srgbClr val="142B4D"/>
                    </a:solidFill>
                  </a:tcPr>
                </a:tc>
                <a:tc>
                  <a:txBody>
                    <a:bodyPr wrap="square"/>
                    <a:lstStyle/>
                    <a:p>
                      <a:pPr algn="ctr"/>
                      <a:r>
                        <a:rPr sz="1300" b="1" dirty="0">
                          <a:solidFill>
                            <a:srgbClr val="FFFFFF"/>
                          </a:solidFill>
                          <a:latin typeface="Arial"/>
                        </a:rPr>
                        <a:t>Scaffold
PR</a:t>
                      </a:r>
                    </a:p>
                  </a:txBody>
                  <a:tcPr marL="54864" marR="54864" marT="18288" marB="18288" anchor="ctr">
                    <a:solidFill>
                      <a:srgbClr val="142B4D"/>
                    </a:solidFill>
                  </a:tcPr>
                </a:tc>
                <a:tc>
                  <a:txBody>
                    <a:bodyPr wrap="square"/>
                    <a:lstStyle/>
                    <a:p>
                      <a:pPr algn="ctr"/>
                      <a:r>
                        <a:rPr sz="1300" b="1" dirty="0">
                          <a:solidFill>
                            <a:srgbClr val="FFFFFF"/>
                          </a:solidFill>
                          <a:latin typeface="Arial"/>
                        </a:rPr>
                        <a:t>Δ PR</a:t>
                      </a:r>
                    </a:p>
                  </a:txBody>
                  <a:tcPr marL="54864" marR="54864" marT="18288" marB="18288" anchor="ctr">
                    <a:solidFill>
                      <a:srgbClr val="142B4D"/>
                    </a:solidFill>
                  </a:tcPr>
                </a:tc>
              </a:tr>
              <a:tr h="502920">
                <a:tc>
                  <a:txBody>
                    <a:bodyPr wrap="square"/>
                    <a:lstStyle/>
                    <a:p>
                      <a:pPr algn="l"/>
                      <a:r>
                        <a:rPr sz="1300" b="0" dirty="0">
                          <a:solidFill>
                            <a:srgbClr val="142B4D"/>
                          </a:solidFill>
                          <a:latin typeface="Arial"/>
                        </a:rPr>
                        <a:t>Logistic Regression</a:t>
                      </a:r>
                    </a:p>
                  </a:txBody>
                  <a:tcPr marL="54864" marR="54864" marT="18288" marB="18288" anchor="ctr">
                    <a:solidFill>
                      <a:srgbClr val="EAF3F5"/>
                    </a:solidFill>
                  </a:tcPr>
                </a:tc>
                <a:tc>
                  <a:txBody>
                    <a:bodyPr wrap="square"/>
                    <a:lstStyle/>
                    <a:p>
                      <a:pPr algn="ctr"/>
                      <a:r>
                        <a:rPr sz="1300" b="0" dirty="0">
                          <a:solidFill>
                            <a:srgbClr val="142B4D"/>
                          </a:solidFill>
                          <a:latin typeface="Arial"/>
                        </a:rPr>
                        <a:t>0.8405</a:t>
                      </a:r>
                    </a:p>
                  </a:txBody>
                  <a:tcPr marL="54864" marR="54864" marT="18288" marB="18288" anchor="ctr">
                    <a:solidFill>
                      <a:srgbClr val="EAF3F5"/>
                    </a:solidFill>
                  </a:tcPr>
                </a:tc>
                <a:tc>
                  <a:txBody>
                    <a:bodyPr wrap="square"/>
                    <a:lstStyle/>
                    <a:p>
                      <a:pPr algn="ctr"/>
                      <a:r>
                        <a:rPr sz="1300" b="0" dirty="0">
                          <a:solidFill>
                            <a:srgbClr val="142B4D"/>
                          </a:solidFill>
                          <a:latin typeface="Arial"/>
                        </a:rPr>
                        <a:t>0.7317</a:t>
                      </a:r>
                    </a:p>
                  </a:txBody>
                  <a:tcPr marL="54864" marR="54864" marT="18288" marB="18288" anchor="ctr">
                    <a:solidFill>
                      <a:srgbClr val="EAF3F5"/>
                    </a:solidFill>
                  </a:tcPr>
                </a:tc>
                <a:tc>
                  <a:txBody>
                    <a:bodyPr wrap="square"/>
                    <a:lstStyle/>
                    <a:p>
                      <a:pPr algn="ctr"/>
                      <a:r>
                        <a:rPr sz="1300" b="0" dirty="0">
                          <a:solidFill>
                            <a:srgbClr val="142B4D"/>
                          </a:solidFill>
                          <a:latin typeface="Arial"/>
                        </a:rPr>
                        <a:t>-0.1088</a:t>
                      </a:r>
                    </a:p>
                  </a:txBody>
                  <a:tcPr marL="54864" marR="54864" marT="18288" marB="18288" anchor="ctr">
                    <a:solidFill>
                      <a:srgbClr val="EAF3F5"/>
                    </a:solidFill>
                  </a:tcPr>
                </a:tc>
                <a:tc>
                  <a:txBody>
                    <a:bodyPr wrap="square"/>
                    <a:lstStyle/>
                    <a:p>
                      <a:pPr algn="ctr"/>
                      <a:r>
                        <a:rPr sz="1300" b="0" dirty="0">
                          <a:solidFill>
                            <a:srgbClr val="142B4D"/>
                          </a:solidFill>
                          <a:latin typeface="Arial"/>
                        </a:rPr>
                        <a:t>0.4818</a:t>
                      </a:r>
                    </a:p>
                  </a:txBody>
                  <a:tcPr marL="54864" marR="54864" marT="18288" marB="18288" anchor="ctr">
                    <a:solidFill>
                      <a:srgbClr val="EAF3F5"/>
                    </a:solidFill>
                  </a:tcPr>
                </a:tc>
                <a:tc>
                  <a:txBody>
                    <a:bodyPr wrap="square"/>
                    <a:lstStyle/>
                    <a:p>
                      <a:pPr algn="ctr"/>
                      <a:r>
                        <a:rPr sz="1300" b="0" dirty="0">
                          <a:solidFill>
                            <a:srgbClr val="142B4D"/>
                          </a:solidFill>
                          <a:latin typeface="Arial"/>
                        </a:rPr>
                        <a:t>0.3122</a:t>
                      </a:r>
                    </a:p>
                  </a:txBody>
                  <a:tcPr marL="54864" marR="54864" marT="18288" marB="18288" anchor="ctr">
                    <a:solidFill>
                      <a:srgbClr val="EAF3F5"/>
                    </a:solidFill>
                  </a:tcPr>
                </a:tc>
                <a:tc>
                  <a:txBody>
                    <a:bodyPr wrap="square"/>
                    <a:lstStyle/>
                    <a:p>
                      <a:pPr algn="ctr"/>
                      <a:r>
                        <a:rPr sz="1300" b="0" dirty="0">
                          <a:solidFill>
                            <a:srgbClr val="142B4D"/>
                          </a:solidFill>
                          <a:latin typeface="Arial"/>
                        </a:rPr>
                        <a:t>-0.1695</a:t>
                      </a:r>
                    </a:p>
                  </a:txBody>
                  <a:tcPr marL="54864" marR="54864" marT="18288" marB="18288" anchor="ctr">
                    <a:solidFill>
                      <a:srgbClr val="EAF3F5"/>
                    </a:solidFill>
                  </a:tcPr>
                </a:tc>
              </a:tr>
              <a:tr h="502920">
                <a:tc>
                  <a:txBody>
                    <a:bodyPr wrap="square"/>
                    <a:lstStyle/>
                    <a:p>
                      <a:pPr algn="l"/>
                      <a:r>
                        <a:rPr sz="1300" b="0" dirty="0">
                          <a:solidFill>
                            <a:srgbClr val="142B4D"/>
                          </a:solidFill>
                          <a:latin typeface="Arial"/>
                        </a:rPr>
                        <a:t>Random Forest</a:t>
                      </a:r>
                    </a:p>
                  </a:txBody>
                  <a:tcPr marL="54864" marR="54864" marT="18288" marB="18288" anchor="ctr">
                    <a:solidFill>
                      <a:srgbClr val="FFFFFF"/>
                    </a:solidFill>
                  </a:tcPr>
                </a:tc>
                <a:tc>
                  <a:txBody>
                    <a:bodyPr wrap="square"/>
                    <a:lstStyle/>
                    <a:p>
                      <a:pPr algn="ctr"/>
                      <a:r>
                        <a:rPr sz="1300" b="0" dirty="0">
                          <a:solidFill>
                            <a:srgbClr val="142B4D"/>
                          </a:solidFill>
                          <a:latin typeface="Arial"/>
                        </a:rPr>
                        <a:t>0.8607</a:t>
                      </a:r>
                    </a:p>
                  </a:txBody>
                  <a:tcPr marL="54864" marR="54864" marT="18288" marB="18288" anchor="ctr">
                    <a:solidFill>
                      <a:srgbClr val="FFFFFF"/>
                    </a:solidFill>
                  </a:tcPr>
                </a:tc>
                <a:tc>
                  <a:txBody>
                    <a:bodyPr wrap="square"/>
                    <a:lstStyle/>
                    <a:p>
                      <a:pPr algn="ctr"/>
                      <a:r>
                        <a:rPr sz="1300" b="0" dirty="0">
                          <a:solidFill>
                            <a:srgbClr val="142B4D"/>
                          </a:solidFill>
                          <a:latin typeface="Arial"/>
                        </a:rPr>
                        <a:t>0.7762</a:t>
                      </a:r>
                    </a:p>
                  </a:txBody>
                  <a:tcPr marL="54864" marR="54864" marT="18288" marB="18288" anchor="ctr">
                    <a:solidFill>
                      <a:srgbClr val="FFFFFF"/>
                    </a:solidFill>
                  </a:tcPr>
                </a:tc>
                <a:tc>
                  <a:txBody>
                    <a:bodyPr wrap="square"/>
                    <a:lstStyle/>
                    <a:p>
                      <a:pPr algn="ctr"/>
                      <a:r>
                        <a:rPr sz="1300" b="0" dirty="0">
                          <a:solidFill>
                            <a:srgbClr val="142B4D"/>
                          </a:solidFill>
                          <a:latin typeface="Arial"/>
                        </a:rPr>
                        <a:t>-0.0845</a:t>
                      </a:r>
                    </a:p>
                  </a:txBody>
                  <a:tcPr marL="54864" marR="54864" marT="18288" marB="18288" anchor="ctr">
                    <a:solidFill>
                      <a:srgbClr val="FFFFFF"/>
                    </a:solidFill>
                  </a:tcPr>
                </a:tc>
                <a:tc>
                  <a:txBody>
                    <a:bodyPr wrap="square"/>
                    <a:lstStyle/>
                    <a:p>
                      <a:pPr algn="ctr"/>
                      <a:r>
                        <a:rPr sz="1300" b="0" dirty="0">
                          <a:solidFill>
                            <a:srgbClr val="142B4D"/>
                          </a:solidFill>
                          <a:latin typeface="Arial"/>
                        </a:rPr>
                        <a:t>0.5456</a:t>
                      </a:r>
                    </a:p>
                  </a:txBody>
                  <a:tcPr marL="54864" marR="54864" marT="18288" marB="18288" anchor="ctr">
                    <a:solidFill>
                      <a:srgbClr val="FFFFFF"/>
                    </a:solidFill>
                  </a:tcPr>
                </a:tc>
                <a:tc>
                  <a:txBody>
                    <a:bodyPr wrap="square"/>
                    <a:lstStyle/>
                    <a:p>
                      <a:pPr algn="ctr"/>
                      <a:r>
                        <a:rPr sz="1300" b="0" dirty="0">
                          <a:solidFill>
                            <a:srgbClr val="142B4D"/>
                          </a:solidFill>
                          <a:latin typeface="Arial"/>
                        </a:rPr>
                        <a:t>0.4035</a:t>
                      </a:r>
                    </a:p>
                  </a:txBody>
                  <a:tcPr marL="54864" marR="54864" marT="18288" marB="18288" anchor="ctr">
                    <a:solidFill>
                      <a:srgbClr val="FFFFFF"/>
                    </a:solidFill>
                  </a:tcPr>
                </a:tc>
                <a:tc>
                  <a:txBody>
                    <a:bodyPr wrap="square"/>
                    <a:lstStyle/>
                    <a:p>
                      <a:pPr algn="ctr"/>
                      <a:r>
                        <a:rPr sz="1300" b="0" dirty="0">
                          <a:solidFill>
                            <a:srgbClr val="142B4D"/>
                          </a:solidFill>
                          <a:latin typeface="Arial"/>
                        </a:rPr>
                        <a:t>-0.1421</a:t>
                      </a:r>
                    </a:p>
                  </a:txBody>
                  <a:tcPr marL="54864" marR="54864" marT="18288" marB="18288" anchor="ctr">
                    <a:solidFill>
                      <a:srgbClr val="FFFFFF"/>
                    </a:solidFill>
                  </a:tcPr>
                </a:tc>
              </a:tr>
              <a:tr h="502920">
                <a:tc>
                  <a:txBody>
                    <a:bodyPr wrap="square"/>
                    <a:lstStyle/>
                    <a:p>
                      <a:pPr algn="l"/>
                      <a:r>
                        <a:rPr sz="1300" b="0" dirty="0">
                          <a:solidFill>
                            <a:srgbClr val="142B4D"/>
                          </a:solidFill>
                          <a:latin typeface="Arial"/>
                        </a:rPr>
                        <a:t>XGBoost</a:t>
                      </a:r>
                    </a:p>
                  </a:txBody>
                  <a:tcPr marL="54864" marR="54864" marT="18288" marB="18288" anchor="ctr">
                    <a:solidFill>
                      <a:srgbClr val="EAF3F5"/>
                    </a:solidFill>
                  </a:tcPr>
                </a:tc>
                <a:tc>
                  <a:txBody>
                    <a:bodyPr wrap="square"/>
                    <a:lstStyle/>
                    <a:p>
                      <a:pPr algn="ctr"/>
                      <a:r>
                        <a:rPr sz="1300" b="0" dirty="0">
                          <a:solidFill>
                            <a:srgbClr val="142B4D"/>
                          </a:solidFill>
                          <a:latin typeface="Arial"/>
                        </a:rPr>
                        <a:t>0.8621</a:t>
                      </a:r>
                    </a:p>
                  </a:txBody>
                  <a:tcPr marL="54864" marR="54864" marT="18288" marB="18288" anchor="ctr">
                    <a:solidFill>
                      <a:srgbClr val="EAF3F5"/>
                    </a:solidFill>
                  </a:tcPr>
                </a:tc>
                <a:tc>
                  <a:txBody>
                    <a:bodyPr wrap="square"/>
                    <a:lstStyle/>
                    <a:p>
                      <a:pPr algn="ctr"/>
                      <a:r>
                        <a:rPr sz="1300" b="0" dirty="0">
                          <a:solidFill>
                            <a:srgbClr val="142B4D"/>
                          </a:solidFill>
                          <a:latin typeface="Arial"/>
                        </a:rPr>
                        <a:t>0.7606</a:t>
                      </a:r>
                    </a:p>
                  </a:txBody>
                  <a:tcPr marL="54864" marR="54864" marT="18288" marB="18288" anchor="ctr">
                    <a:solidFill>
                      <a:srgbClr val="EAF3F5"/>
                    </a:solidFill>
                  </a:tcPr>
                </a:tc>
                <a:tc>
                  <a:txBody>
                    <a:bodyPr wrap="square"/>
                    <a:lstStyle/>
                    <a:p>
                      <a:pPr algn="ctr"/>
                      <a:r>
                        <a:rPr sz="1300" b="0" dirty="0">
                          <a:solidFill>
                            <a:srgbClr val="142B4D"/>
                          </a:solidFill>
                          <a:latin typeface="Arial"/>
                        </a:rPr>
                        <a:t>-0.1015</a:t>
                      </a:r>
                    </a:p>
                  </a:txBody>
                  <a:tcPr marL="54864" marR="54864" marT="18288" marB="18288" anchor="ctr">
                    <a:solidFill>
                      <a:srgbClr val="EAF3F5"/>
                    </a:solidFill>
                  </a:tcPr>
                </a:tc>
                <a:tc>
                  <a:txBody>
                    <a:bodyPr wrap="square"/>
                    <a:lstStyle/>
                    <a:p>
                      <a:pPr algn="ctr"/>
                      <a:r>
                        <a:rPr sz="1300" b="0" dirty="0">
                          <a:solidFill>
                            <a:srgbClr val="142B4D"/>
                          </a:solidFill>
                          <a:latin typeface="Arial"/>
                        </a:rPr>
                        <a:t>0.5647</a:t>
                      </a:r>
                    </a:p>
                  </a:txBody>
                  <a:tcPr marL="54864" marR="54864" marT="18288" marB="18288" anchor="ctr">
                    <a:solidFill>
                      <a:srgbClr val="EAF3F5"/>
                    </a:solidFill>
                  </a:tcPr>
                </a:tc>
                <a:tc>
                  <a:txBody>
                    <a:bodyPr wrap="square"/>
                    <a:lstStyle/>
                    <a:p>
                      <a:pPr algn="ctr"/>
                      <a:r>
                        <a:rPr sz="1300" b="0" dirty="0">
                          <a:solidFill>
                            <a:srgbClr val="142B4D"/>
                          </a:solidFill>
                          <a:latin typeface="Arial"/>
                        </a:rPr>
                        <a:t>0.4010</a:t>
                      </a:r>
                    </a:p>
                  </a:txBody>
                  <a:tcPr marL="54864" marR="54864" marT="18288" marB="18288" anchor="ctr">
                    <a:solidFill>
                      <a:srgbClr val="EAF3F5"/>
                    </a:solidFill>
                  </a:tcPr>
                </a:tc>
                <a:tc>
                  <a:txBody>
                    <a:bodyPr wrap="square"/>
                    <a:lstStyle/>
                    <a:p>
                      <a:pPr algn="ctr"/>
                      <a:r>
                        <a:rPr sz="1300" b="0" dirty="0">
                          <a:solidFill>
                            <a:srgbClr val="142B4D"/>
                          </a:solidFill>
                          <a:latin typeface="Arial"/>
                        </a:rPr>
                        <a:t>-0.1637</a:t>
                      </a:r>
                    </a:p>
                  </a:txBody>
                  <a:tcPr marL="54864" marR="54864" marT="18288" marB="18288" anchor="ctr">
                    <a:solidFill>
                      <a:srgbClr val="EAF3F5"/>
                    </a:solidFill>
                  </a:tcPr>
                </a:tc>
              </a:tr>
            </a:tbl>
          </a:graphicData>
        </a:graphic>
      </p:graphicFrame>
      <p:sp>
        <p:nvSpPr>
          <p:cNvPr id="7" name="TextBox 6"/>
          <p:cNvSpPr txBox="1"/>
          <p:nvPr/>
        </p:nvSpPr>
        <p:spPr>
          <a:xfrm>
            <a:off x="548640" y="3566160"/>
            <a:ext cx="6949440" cy="2743200"/>
          </a:xfrm>
          <a:prstGeom prst="rect">
            <a:avLst/>
          </a:prstGeom>
          <a:noFill/>
        </p:spPr>
        <p:txBody>
          <a:bodyPr wrap="square" anchor="t" lIns="45720" rIns="45720">
            <a:spAutoFit/>
          </a:bodyPr>
          <a:lstStyle/>
          <a:p>
            <a:pPr algn="l">
              <a:spcAft>
                <a:spcPts val="800"/>
              </a:spcAft>
            </a:pPr>
            <a:r>
              <a:rPr sz="1400" b="0" dirty="0">
                <a:solidFill>
                  <a:srgbClr val="555F6B"/>
                </a:solidFill>
                <a:latin typeface="Arial"/>
              </a:rPr>
              <a:t>Morgan+Desc, mean over 12 endpoints and 3 seeds</a:t>
            </a:r>
          </a:p>
          <a:p>
            <a:pPr algn="l">
              <a:spcAft>
                <a:spcPts val="800"/>
              </a:spcAft>
            </a:pPr>
            <a:r>
              <a:rPr sz="1700" b="0" dirty="0">
                <a:solidFill>
                  <a:srgbClr val="142B4D"/>
                </a:solidFill>
                <a:latin typeface="Arial"/>
              </a:rPr>
              <a:t>•  All three models score lower on the scaffold split: ROC drops 0.0845 to 0.1088, PR AUC drops 0.1421 to 0.1695</a:t>
            </a:r>
          </a:p>
          <a:p>
            <a:pPr algn="l">
              <a:spcAft>
                <a:spcPts val="800"/>
              </a:spcAft>
            </a:pPr>
            <a:r>
              <a:rPr sz="1700" b="0" dirty="0">
                <a:solidFill>
                  <a:srgbClr val="142B4D"/>
                </a:solidFill>
                <a:latin typeface="Arial"/>
              </a:rPr>
              <a:t>•  Caveat: the two test sets contain different molecules and positive counts, so this is not a controlled leakage measurement. No significance test was run</a:t>
            </a:r>
          </a:p>
        </p:txBody>
      </p:sp>
      <p:pic>
        <p:nvPicPr>
          <p:cNvPr id="8" name="Picture 7" descr="scaffold_vs_random_split.png"/>
          <p:cNvPicPr>
            <a:picLocks noChangeAspect="1"/>
          </p:cNvPicPr>
          <p:nvPr/>
        </p:nvPicPr>
        <p:blipFill>
          <a:blip r:embed="rId3"/>
          <a:stretch>
            <a:fillRect/>
          </a:stretch>
        </p:blipFill>
        <p:spPr>
          <a:xfrm>
            <a:off x="7635240" y="2041535"/>
            <a:ext cx="4206240" cy="158620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nchor="ctr" lIns="45720" rIns="45720">
            <a:spAutoFit/>
          </a:bodyPr>
          <a:lstStyle/>
          <a:p>
            <a:pPr algn="l">
              <a:spcAft>
                <a:spcPts val="800"/>
              </a:spcAft>
            </a:pPr>
            <a:r>
              <a:rPr sz="3000" b="1" dirty="0">
                <a:solidFill>
                  <a:srgbClr val="142B4D"/>
                </a:solidFill>
                <a:latin typeface="Arial"/>
              </a:rPr>
              <a:t>Per-endpoint results (scaffold test, Morgan+Desc)</a:t>
            </a:r>
          </a:p>
        </p:txBody>
      </p:sp>
      <p:sp>
        <p:nvSpPr>
          <p:cNvPr id="3" name="Rectangle 2"/>
          <p:cNvSpPr/>
          <p:nvPr/>
        </p:nvSpPr>
        <p:spPr>
          <a:xfrm>
            <a:off x="594360" y="1051560"/>
            <a:ext cx="1463040" cy="54864"/>
          </a:xfrm>
          <a:prstGeom prst="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800"/>
              </a:spcAft>
            </a:pPr>
            <a:r>
              <a:rPr sz="1000" b="0" dirty="0">
                <a:solidFill>
                  <a:srgbClr val="555F6B"/>
                </a:solidFill>
                <a:latin typeface="Arial"/>
              </a:rPr>
              <a:t>Tox21 Phase 1  |  classical ML baseline</a:t>
            </a:r>
          </a:p>
        </p:txBody>
      </p:sp>
      <p:sp>
        <p:nvSpPr>
          <p:cNvPr id="5" name="TextBox 4"/>
          <p:cNvSpPr txBox="1"/>
          <p:nvPr/>
        </p:nvSpPr>
        <p:spPr>
          <a:xfrm>
            <a:off x="10881360" y="6446520"/>
            <a:ext cx="822960" cy="274320"/>
          </a:xfrm>
          <a:prstGeom prst="rect">
            <a:avLst/>
          </a:prstGeom>
          <a:noFill/>
        </p:spPr>
        <p:txBody>
          <a:bodyPr wrap="square" anchor="t" lIns="45720" rIns="45720">
            <a:spAutoFit/>
          </a:bodyPr>
          <a:lstStyle/>
          <a:p>
            <a:pPr algn="r">
              <a:spcAft>
                <a:spcPts val="800"/>
              </a:spcAft>
            </a:pPr>
            <a:r>
              <a:rPr sz="1000" b="0" dirty="0">
                <a:solidFill>
                  <a:srgbClr val="555F6B"/>
                </a:solidFill>
                <a:latin typeface="Arial"/>
              </a:rPr>
              <a:t>10</a:t>
            </a:r>
          </a:p>
        </p:txBody>
      </p:sp>
      <p:graphicFrame>
        <p:nvGraphicFramePr>
          <p:cNvPr id="6" name="Table 5"/>
          <p:cNvGraphicFramePr>
            <a:graphicFrameLocks noGrp="1"/>
          </p:cNvGraphicFramePr>
          <p:nvPr/>
        </p:nvGraphicFramePr>
        <p:xfrm>
          <a:off x="548640" y="1280160"/>
          <a:ext cx="7680960" cy="4754880"/>
        </p:xfrm>
        <a:graphic>
          <a:graphicData uri="http://schemas.openxmlformats.org/drawingml/2006/table">
            <a:tbl>
              <a:tblPr firstRow="1" bandRow="1">
                <a:tableStyleId>{5C22544A-7EE6-4342-B048-85BDC9FD1C3A}</a:tableStyleId>
              </a:tblPr>
              <a:tblGrid>
                <a:gridCol w="1920240"/>
                <a:gridCol w="960120"/>
                <a:gridCol w="960120"/>
                <a:gridCol w="960120"/>
                <a:gridCol w="960120"/>
                <a:gridCol w="960120"/>
                <a:gridCol w="960120"/>
              </a:tblGrid>
              <a:tr h="365760">
                <a:tc>
                  <a:txBody>
                    <a:bodyPr wrap="square"/>
                    <a:lstStyle/>
                    <a:p>
                      <a:pPr algn="l"/>
                      <a:r>
                        <a:rPr sz="1200" b="1" dirty="0">
                          <a:solidFill>
                            <a:srgbClr val="FFFFFF"/>
                          </a:solidFill>
                          <a:latin typeface="Arial"/>
                        </a:rPr>
                        <a:t>Endpoint</a:t>
                      </a:r>
                    </a:p>
                  </a:txBody>
                  <a:tcPr marL="54864" marR="54864" marT="18288" marB="18288" anchor="ctr">
                    <a:solidFill>
                      <a:srgbClr val="142B4D"/>
                    </a:solidFill>
                  </a:tcPr>
                </a:tc>
                <a:tc>
                  <a:txBody>
                    <a:bodyPr wrap="square"/>
                    <a:lstStyle/>
                    <a:p>
                      <a:pPr algn="ctr"/>
                      <a:r>
                        <a:rPr sz="1200" b="1" dirty="0">
                          <a:solidFill>
                            <a:srgbClr val="FFFFFF"/>
                          </a:solidFill>
                          <a:latin typeface="Arial"/>
                        </a:rPr>
                        <a:t>LR
ROC</a:t>
                      </a:r>
                    </a:p>
                  </a:txBody>
                  <a:tcPr marL="54864" marR="54864" marT="18288" marB="18288" anchor="ctr">
                    <a:solidFill>
                      <a:srgbClr val="142B4D"/>
                    </a:solidFill>
                  </a:tcPr>
                </a:tc>
                <a:tc>
                  <a:txBody>
                    <a:bodyPr wrap="square"/>
                    <a:lstStyle/>
                    <a:p>
                      <a:pPr algn="ctr"/>
                      <a:r>
                        <a:rPr sz="1200" b="1" dirty="0">
                          <a:solidFill>
                            <a:srgbClr val="FFFFFF"/>
                          </a:solidFill>
                          <a:latin typeface="Arial"/>
                        </a:rPr>
                        <a:t>RF
ROC</a:t>
                      </a:r>
                    </a:p>
                  </a:txBody>
                  <a:tcPr marL="54864" marR="54864" marT="18288" marB="18288" anchor="ctr">
                    <a:solidFill>
                      <a:srgbClr val="142B4D"/>
                    </a:solidFill>
                  </a:tcPr>
                </a:tc>
                <a:tc>
                  <a:txBody>
                    <a:bodyPr wrap="square"/>
                    <a:lstStyle/>
                    <a:p>
                      <a:pPr algn="ctr"/>
                      <a:r>
                        <a:rPr sz="1200" b="1" dirty="0">
                          <a:solidFill>
                            <a:srgbClr val="FFFFFF"/>
                          </a:solidFill>
                          <a:latin typeface="Arial"/>
                        </a:rPr>
                        <a:t>XGB
ROC</a:t>
                      </a:r>
                    </a:p>
                  </a:txBody>
                  <a:tcPr marL="54864" marR="54864" marT="18288" marB="18288" anchor="ctr">
                    <a:solidFill>
                      <a:srgbClr val="142B4D"/>
                    </a:solidFill>
                  </a:tcPr>
                </a:tc>
                <a:tc>
                  <a:txBody>
                    <a:bodyPr wrap="square"/>
                    <a:lstStyle/>
                    <a:p>
                      <a:pPr algn="ctr"/>
                      <a:r>
                        <a:rPr sz="1200" b="1" dirty="0">
                          <a:solidFill>
                            <a:srgbClr val="FFFFFF"/>
                          </a:solidFill>
                          <a:latin typeface="Arial"/>
                        </a:rPr>
                        <a:t>LR
PR</a:t>
                      </a:r>
                    </a:p>
                  </a:txBody>
                  <a:tcPr marL="54864" marR="54864" marT="18288" marB="18288" anchor="ctr">
                    <a:solidFill>
                      <a:srgbClr val="142B4D"/>
                    </a:solidFill>
                  </a:tcPr>
                </a:tc>
                <a:tc>
                  <a:txBody>
                    <a:bodyPr wrap="square"/>
                    <a:lstStyle/>
                    <a:p>
                      <a:pPr algn="ctr"/>
                      <a:r>
                        <a:rPr sz="1200" b="1" dirty="0">
                          <a:solidFill>
                            <a:srgbClr val="FFFFFF"/>
                          </a:solidFill>
                          <a:latin typeface="Arial"/>
                        </a:rPr>
                        <a:t>RF
PR</a:t>
                      </a:r>
                    </a:p>
                  </a:txBody>
                  <a:tcPr marL="54864" marR="54864" marT="18288" marB="18288" anchor="ctr">
                    <a:solidFill>
                      <a:srgbClr val="142B4D"/>
                    </a:solidFill>
                  </a:tcPr>
                </a:tc>
                <a:tc>
                  <a:txBody>
                    <a:bodyPr wrap="square"/>
                    <a:lstStyle/>
                    <a:p>
                      <a:pPr algn="ctr"/>
                      <a:r>
                        <a:rPr sz="1200" b="1" dirty="0">
                          <a:solidFill>
                            <a:srgbClr val="FFFFFF"/>
                          </a:solidFill>
                          <a:latin typeface="Arial"/>
                        </a:rPr>
                        <a:t>XGB
PR</a:t>
                      </a:r>
                    </a:p>
                  </a:txBody>
                  <a:tcPr marL="54864" marR="54864" marT="18288" marB="18288" anchor="ctr">
                    <a:solidFill>
                      <a:srgbClr val="142B4D"/>
                    </a:solidFill>
                  </a:tcPr>
                </a:tc>
              </a:tr>
              <a:tr h="365760">
                <a:tc>
                  <a:txBody>
                    <a:bodyPr wrap="square"/>
                    <a:lstStyle/>
                    <a:p>
                      <a:pPr algn="l"/>
                      <a:r>
                        <a:rPr sz="1200" b="0" dirty="0">
                          <a:solidFill>
                            <a:srgbClr val="142B4D"/>
                          </a:solidFill>
                          <a:latin typeface="Arial"/>
                        </a:rPr>
                        <a:t>NR-AR</a:t>
                      </a:r>
                    </a:p>
                  </a:txBody>
                  <a:tcPr marL="54864" marR="54864" marT="18288" marB="18288" anchor="ctr">
                    <a:solidFill>
                      <a:srgbClr val="EAF3F5"/>
                    </a:solidFill>
                  </a:tcPr>
                </a:tc>
                <a:tc>
                  <a:txBody>
                    <a:bodyPr wrap="square"/>
                    <a:lstStyle/>
                    <a:p>
                      <a:pPr algn="ctr"/>
                      <a:r>
                        <a:rPr sz="1200" b="0" dirty="0">
                          <a:solidFill>
                            <a:srgbClr val="142B4D"/>
                          </a:solidFill>
                          <a:latin typeface="Arial"/>
                        </a:rPr>
                        <a:t>0.691</a:t>
                      </a:r>
                    </a:p>
                  </a:txBody>
                  <a:tcPr marL="54864" marR="54864" marT="18288" marB="18288" anchor="ctr">
                    <a:solidFill>
                      <a:srgbClr val="EAF3F5"/>
                    </a:solidFill>
                  </a:tcPr>
                </a:tc>
                <a:tc>
                  <a:txBody>
                    <a:bodyPr wrap="square"/>
                    <a:lstStyle/>
                    <a:p>
                      <a:pPr algn="ctr"/>
                      <a:r>
                        <a:rPr sz="1200" b="1" dirty="0">
                          <a:solidFill>
                            <a:srgbClr val="142B4D"/>
                          </a:solidFill>
                          <a:latin typeface="Arial"/>
                        </a:rPr>
                        <a:t>0.764</a:t>
                      </a:r>
                    </a:p>
                  </a:txBody>
                  <a:tcPr marL="54864" marR="54864" marT="18288" marB="18288" anchor="ctr">
                    <a:solidFill>
                      <a:srgbClr val="D8EFEA"/>
                    </a:solidFill>
                  </a:tcPr>
                </a:tc>
                <a:tc>
                  <a:txBody>
                    <a:bodyPr wrap="square"/>
                    <a:lstStyle/>
                    <a:p>
                      <a:pPr algn="ctr"/>
                      <a:r>
                        <a:rPr sz="1200" b="0" dirty="0">
                          <a:solidFill>
                            <a:srgbClr val="142B4D"/>
                          </a:solidFill>
                          <a:latin typeface="Arial"/>
                        </a:rPr>
                        <a:t>0.723</a:t>
                      </a:r>
                    </a:p>
                  </a:txBody>
                  <a:tcPr marL="54864" marR="54864" marT="18288" marB="18288" anchor="ctr">
                    <a:solidFill>
                      <a:srgbClr val="EAF3F5"/>
                    </a:solidFill>
                  </a:tcPr>
                </a:tc>
                <a:tc>
                  <a:txBody>
                    <a:bodyPr wrap="square"/>
                    <a:lstStyle/>
                    <a:p>
                      <a:pPr algn="ctr"/>
                      <a:r>
                        <a:rPr sz="1200" b="0" dirty="0">
                          <a:solidFill>
                            <a:srgbClr val="142B4D"/>
                          </a:solidFill>
                          <a:latin typeface="Arial"/>
                        </a:rPr>
                        <a:t>0.374</a:t>
                      </a:r>
                    </a:p>
                  </a:txBody>
                  <a:tcPr marL="54864" marR="54864" marT="18288" marB="18288" anchor="ctr">
                    <a:solidFill>
                      <a:srgbClr val="EAF3F5"/>
                    </a:solidFill>
                  </a:tcPr>
                </a:tc>
                <a:tc>
                  <a:txBody>
                    <a:bodyPr wrap="square"/>
                    <a:lstStyle/>
                    <a:p>
                      <a:pPr algn="ctr"/>
                      <a:r>
                        <a:rPr sz="1200" b="0" dirty="0">
                          <a:solidFill>
                            <a:srgbClr val="142B4D"/>
                          </a:solidFill>
                          <a:latin typeface="Arial"/>
                        </a:rPr>
                        <a:t>0.456</a:t>
                      </a:r>
                    </a:p>
                  </a:txBody>
                  <a:tcPr marL="54864" marR="54864" marT="18288" marB="18288" anchor="ctr">
                    <a:solidFill>
                      <a:srgbClr val="EAF3F5"/>
                    </a:solidFill>
                  </a:tcPr>
                </a:tc>
                <a:tc>
                  <a:txBody>
                    <a:bodyPr wrap="square"/>
                    <a:lstStyle/>
                    <a:p>
                      <a:pPr algn="ctr"/>
                      <a:r>
                        <a:rPr sz="1200" b="1" dirty="0">
                          <a:solidFill>
                            <a:srgbClr val="142B4D"/>
                          </a:solidFill>
                          <a:latin typeface="Arial"/>
                        </a:rPr>
                        <a:t>0.464</a:t>
                      </a:r>
                    </a:p>
                  </a:txBody>
                  <a:tcPr marL="54864" marR="54864" marT="18288" marB="18288" anchor="ctr">
                    <a:solidFill>
                      <a:srgbClr val="D8EFEA"/>
                    </a:solidFill>
                  </a:tcPr>
                </a:tc>
              </a:tr>
              <a:tr h="365760">
                <a:tc>
                  <a:txBody>
                    <a:bodyPr wrap="square"/>
                    <a:lstStyle/>
                    <a:p>
                      <a:pPr algn="l"/>
                      <a:r>
                        <a:rPr sz="1200" b="0" dirty="0">
                          <a:solidFill>
                            <a:srgbClr val="142B4D"/>
                          </a:solidFill>
                          <a:latin typeface="Arial"/>
                        </a:rPr>
                        <a:t>NR-AR-LBD</a:t>
                      </a:r>
                    </a:p>
                  </a:txBody>
                  <a:tcPr marL="54864" marR="54864" marT="18288" marB="18288" anchor="ctr">
                    <a:solidFill>
                      <a:srgbClr val="FFFFFF"/>
                    </a:solidFill>
                  </a:tcPr>
                </a:tc>
                <a:tc>
                  <a:txBody>
                    <a:bodyPr wrap="square"/>
                    <a:lstStyle/>
                    <a:p>
                      <a:pPr algn="ctr"/>
                      <a:r>
                        <a:rPr sz="1200" b="0" dirty="0">
                          <a:solidFill>
                            <a:srgbClr val="142B4D"/>
                          </a:solidFill>
                          <a:latin typeface="Arial"/>
                        </a:rPr>
                        <a:t>0.775</a:t>
                      </a:r>
                    </a:p>
                  </a:txBody>
                  <a:tcPr marL="54864" marR="54864" marT="18288" marB="18288" anchor="ctr">
                    <a:solidFill>
                      <a:srgbClr val="FFFFFF"/>
                    </a:solidFill>
                  </a:tcPr>
                </a:tc>
                <a:tc>
                  <a:txBody>
                    <a:bodyPr wrap="square"/>
                    <a:lstStyle/>
                    <a:p>
                      <a:pPr algn="ctr"/>
                      <a:r>
                        <a:rPr sz="1200" b="0" dirty="0">
                          <a:solidFill>
                            <a:srgbClr val="142B4D"/>
                          </a:solidFill>
                          <a:latin typeface="Arial"/>
                        </a:rPr>
                        <a:t>0.838</a:t>
                      </a:r>
                    </a:p>
                  </a:txBody>
                  <a:tcPr marL="54864" marR="54864" marT="18288" marB="18288" anchor="ctr">
                    <a:solidFill>
                      <a:srgbClr val="FFFFFF"/>
                    </a:solidFill>
                  </a:tcPr>
                </a:tc>
                <a:tc>
                  <a:txBody>
                    <a:bodyPr wrap="square"/>
                    <a:lstStyle/>
                    <a:p>
                      <a:pPr algn="ctr"/>
                      <a:r>
                        <a:rPr sz="1200" b="1" dirty="0">
                          <a:solidFill>
                            <a:srgbClr val="142B4D"/>
                          </a:solidFill>
                          <a:latin typeface="Arial"/>
                        </a:rPr>
                        <a:t>0.857</a:t>
                      </a:r>
                    </a:p>
                  </a:txBody>
                  <a:tcPr marL="54864" marR="54864" marT="18288" marB="18288" anchor="ctr">
                    <a:solidFill>
                      <a:srgbClr val="D8EFEA"/>
                    </a:solidFill>
                  </a:tcPr>
                </a:tc>
                <a:tc>
                  <a:txBody>
                    <a:bodyPr wrap="square"/>
                    <a:lstStyle/>
                    <a:p>
                      <a:pPr algn="ctr"/>
                      <a:r>
                        <a:rPr sz="1200" b="0" dirty="0">
                          <a:solidFill>
                            <a:srgbClr val="142B4D"/>
                          </a:solidFill>
                          <a:latin typeface="Arial"/>
                        </a:rPr>
                        <a:t>0.342</a:t>
                      </a:r>
                    </a:p>
                  </a:txBody>
                  <a:tcPr marL="54864" marR="54864" marT="18288" marB="18288" anchor="ctr">
                    <a:solidFill>
                      <a:srgbClr val="FFFFFF"/>
                    </a:solidFill>
                  </a:tcPr>
                </a:tc>
                <a:tc>
                  <a:txBody>
                    <a:bodyPr wrap="square"/>
                    <a:lstStyle/>
                    <a:p>
                      <a:pPr algn="ctr"/>
                      <a:r>
                        <a:rPr sz="1200" b="1" dirty="0">
                          <a:solidFill>
                            <a:srgbClr val="142B4D"/>
                          </a:solidFill>
                          <a:latin typeface="Arial"/>
                        </a:rPr>
                        <a:t>0.446</a:t>
                      </a:r>
                    </a:p>
                  </a:txBody>
                  <a:tcPr marL="54864" marR="54864" marT="18288" marB="18288" anchor="ctr">
                    <a:solidFill>
                      <a:srgbClr val="D8EFEA"/>
                    </a:solidFill>
                  </a:tcPr>
                </a:tc>
                <a:tc>
                  <a:txBody>
                    <a:bodyPr wrap="square"/>
                    <a:lstStyle/>
                    <a:p>
                      <a:pPr algn="ctr"/>
                      <a:r>
                        <a:rPr sz="1200" b="0" dirty="0">
                          <a:solidFill>
                            <a:srgbClr val="142B4D"/>
                          </a:solidFill>
                          <a:latin typeface="Arial"/>
                        </a:rPr>
                        <a:t>0.442</a:t>
                      </a:r>
                    </a:p>
                  </a:txBody>
                  <a:tcPr marL="54864" marR="54864" marT="18288" marB="18288" anchor="ctr">
                    <a:solidFill>
                      <a:srgbClr val="FFFFFF"/>
                    </a:solidFill>
                  </a:tcPr>
                </a:tc>
              </a:tr>
              <a:tr h="365760">
                <a:tc>
                  <a:txBody>
                    <a:bodyPr wrap="square"/>
                    <a:lstStyle/>
                    <a:p>
                      <a:pPr algn="l"/>
                      <a:r>
                        <a:rPr sz="1200" b="0" dirty="0">
                          <a:solidFill>
                            <a:srgbClr val="142B4D"/>
                          </a:solidFill>
                          <a:latin typeface="Arial"/>
                        </a:rPr>
                        <a:t>NR-AhR</a:t>
                      </a:r>
                    </a:p>
                  </a:txBody>
                  <a:tcPr marL="54864" marR="54864" marT="18288" marB="18288" anchor="ctr">
                    <a:solidFill>
                      <a:srgbClr val="EAF3F5"/>
                    </a:solidFill>
                  </a:tcPr>
                </a:tc>
                <a:tc>
                  <a:txBody>
                    <a:bodyPr wrap="square"/>
                    <a:lstStyle/>
                    <a:p>
                      <a:pPr algn="ctr"/>
                      <a:r>
                        <a:rPr sz="1200" b="0" dirty="0">
                          <a:solidFill>
                            <a:srgbClr val="142B4D"/>
                          </a:solidFill>
                          <a:latin typeface="Arial"/>
                        </a:rPr>
                        <a:t>0.806</a:t>
                      </a:r>
                    </a:p>
                  </a:txBody>
                  <a:tcPr marL="54864" marR="54864" marT="18288" marB="18288" anchor="ctr">
                    <a:solidFill>
                      <a:srgbClr val="EAF3F5"/>
                    </a:solidFill>
                  </a:tcPr>
                </a:tc>
                <a:tc>
                  <a:txBody>
                    <a:bodyPr wrap="square"/>
                    <a:lstStyle/>
                    <a:p>
                      <a:pPr algn="ctr"/>
                      <a:r>
                        <a:rPr sz="1200" b="1" dirty="0">
                          <a:solidFill>
                            <a:srgbClr val="142B4D"/>
                          </a:solidFill>
                          <a:latin typeface="Arial"/>
                        </a:rPr>
                        <a:t>0.841</a:t>
                      </a:r>
                    </a:p>
                  </a:txBody>
                  <a:tcPr marL="54864" marR="54864" marT="18288" marB="18288" anchor="ctr">
                    <a:solidFill>
                      <a:srgbClr val="D8EFEA"/>
                    </a:solidFill>
                  </a:tcPr>
                </a:tc>
                <a:tc>
                  <a:txBody>
                    <a:bodyPr wrap="square"/>
                    <a:lstStyle/>
                    <a:p>
                      <a:pPr algn="ctr"/>
                      <a:r>
                        <a:rPr sz="1200" b="0" dirty="0">
                          <a:solidFill>
                            <a:srgbClr val="142B4D"/>
                          </a:solidFill>
                          <a:latin typeface="Arial"/>
                        </a:rPr>
                        <a:t>0.833</a:t>
                      </a:r>
                    </a:p>
                  </a:txBody>
                  <a:tcPr marL="54864" marR="54864" marT="18288" marB="18288" anchor="ctr">
                    <a:solidFill>
                      <a:srgbClr val="EAF3F5"/>
                    </a:solidFill>
                  </a:tcPr>
                </a:tc>
                <a:tc>
                  <a:txBody>
                    <a:bodyPr wrap="square"/>
                    <a:lstStyle/>
                    <a:p>
                      <a:pPr algn="ctr"/>
                      <a:r>
                        <a:rPr sz="1200" b="0" dirty="0">
                          <a:solidFill>
                            <a:srgbClr val="142B4D"/>
                          </a:solidFill>
                          <a:latin typeface="Arial"/>
                        </a:rPr>
                        <a:t>0.445</a:t>
                      </a:r>
                    </a:p>
                  </a:txBody>
                  <a:tcPr marL="54864" marR="54864" marT="18288" marB="18288" anchor="ctr">
                    <a:solidFill>
                      <a:srgbClr val="EAF3F5"/>
                    </a:solidFill>
                  </a:tcPr>
                </a:tc>
                <a:tc>
                  <a:txBody>
                    <a:bodyPr wrap="square"/>
                    <a:lstStyle/>
                    <a:p>
                      <a:pPr algn="ctr"/>
                      <a:r>
                        <a:rPr sz="1200" b="1" dirty="0">
                          <a:solidFill>
                            <a:srgbClr val="142B4D"/>
                          </a:solidFill>
                          <a:latin typeface="Arial"/>
                        </a:rPr>
                        <a:t>0.596</a:t>
                      </a:r>
                    </a:p>
                  </a:txBody>
                  <a:tcPr marL="54864" marR="54864" marT="18288" marB="18288" anchor="ctr">
                    <a:solidFill>
                      <a:srgbClr val="D8EFEA"/>
                    </a:solidFill>
                  </a:tcPr>
                </a:tc>
                <a:tc>
                  <a:txBody>
                    <a:bodyPr wrap="square"/>
                    <a:lstStyle/>
                    <a:p>
                      <a:pPr algn="ctr"/>
                      <a:r>
                        <a:rPr sz="1200" b="0" dirty="0">
                          <a:solidFill>
                            <a:srgbClr val="142B4D"/>
                          </a:solidFill>
                          <a:latin typeface="Arial"/>
                        </a:rPr>
                        <a:t>0.574</a:t>
                      </a:r>
                    </a:p>
                  </a:txBody>
                  <a:tcPr marL="54864" marR="54864" marT="18288" marB="18288" anchor="ctr">
                    <a:solidFill>
                      <a:srgbClr val="EAF3F5"/>
                    </a:solidFill>
                  </a:tcPr>
                </a:tc>
              </a:tr>
              <a:tr h="365760">
                <a:tc>
                  <a:txBody>
                    <a:bodyPr wrap="square"/>
                    <a:lstStyle/>
                    <a:p>
                      <a:pPr algn="l"/>
                      <a:r>
                        <a:rPr sz="1200" b="0" dirty="0">
                          <a:solidFill>
                            <a:srgbClr val="142B4D"/>
                          </a:solidFill>
                          <a:latin typeface="Arial"/>
                        </a:rPr>
                        <a:t>NR-Aromatase</a:t>
                      </a:r>
                    </a:p>
                  </a:txBody>
                  <a:tcPr marL="54864" marR="54864" marT="18288" marB="18288" anchor="ctr">
                    <a:solidFill>
                      <a:srgbClr val="FFFFFF"/>
                    </a:solidFill>
                  </a:tcPr>
                </a:tc>
                <a:tc>
                  <a:txBody>
                    <a:bodyPr wrap="square"/>
                    <a:lstStyle/>
                    <a:p>
                      <a:pPr algn="ctr"/>
                      <a:r>
                        <a:rPr sz="1200" b="0" dirty="0">
                          <a:solidFill>
                            <a:srgbClr val="142B4D"/>
                          </a:solidFill>
                          <a:latin typeface="Arial"/>
                        </a:rPr>
                        <a:t>0.695</a:t>
                      </a:r>
                    </a:p>
                  </a:txBody>
                  <a:tcPr marL="54864" marR="54864" marT="18288" marB="18288" anchor="ctr">
                    <a:solidFill>
                      <a:srgbClr val="FFFFFF"/>
                    </a:solidFill>
                  </a:tcPr>
                </a:tc>
                <a:tc>
                  <a:txBody>
                    <a:bodyPr wrap="square"/>
                    <a:lstStyle/>
                    <a:p>
                      <a:pPr algn="ctr"/>
                      <a:r>
                        <a:rPr sz="1200" b="1" dirty="0">
                          <a:solidFill>
                            <a:srgbClr val="142B4D"/>
                          </a:solidFill>
                          <a:latin typeface="Arial"/>
                        </a:rPr>
                        <a:t>0.751</a:t>
                      </a:r>
                    </a:p>
                  </a:txBody>
                  <a:tcPr marL="54864" marR="54864" marT="18288" marB="18288" anchor="ctr">
                    <a:solidFill>
                      <a:srgbClr val="D8EFEA"/>
                    </a:solidFill>
                  </a:tcPr>
                </a:tc>
                <a:tc>
                  <a:txBody>
                    <a:bodyPr wrap="square"/>
                    <a:lstStyle/>
                    <a:p>
                      <a:pPr algn="ctr"/>
                      <a:r>
                        <a:rPr sz="1200" b="0" dirty="0">
                          <a:solidFill>
                            <a:srgbClr val="142B4D"/>
                          </a:solidFill>
                          <a:latin typeface="Arial"/>
                        </a:rPr>
                        <a:t>0.728</a:t>
                      </a:r>
                    </a:p>
                  </a:txBody>
                  <a:tcPr marL="54864" marR="54864" marT="18288" marB="18288" anchor="ctr">
                    <a:solidFill>
                      <a:srgbClr val="FFFFFF"/>
                    </a:solidFill>
                  </a:tcPr>
                </a:tc>
                <a:tc>
                  <a:txBody>
                    <a:bodyPr wrap="square"/>
                    <a:lstStyle/>
                    <a:p>
                      <a:pPr algn="ctr"/>
                      <a:r>
                        <a:rPr sz="1200" b="0" dirty="0">
                          <a:solidFill>
                            <a:srgbClr val="142B4D"/>
                          </a:solidFill>
                          <a:latin typeface="Arial"/>
                        </a:rPr>
                        <a:t>0.216</a:t>
                      </a:r>
                    </a:p>
                  </a:txBody>
                  <a:tcPr marL="54864" marR="54864" marT="18288" marB="18288" anchor="ctr">
                    <a:solidFill>
                      <a:srgbClr val="FFFFFF"/>
                    </a:solidFill>
                  </a:tcPr>
                </a:tc>
                <a:tc>
                  <a:txBody>
                    <a:bodyPr wrap="square"/>
                    <a:lstStyle/>
                    <a:p>
                      <a:pPr algn="ctr"/>
                      <a:r>
                        <a:rPr sz="1200" b="1" dirty="0">
                          <a:solidFill>
                            <a:srgbClr val="142B4D"/>
                          </a:solidFill>
                          <a:latin typeface="Arial"/>
                        </a:rPr>
                        <a:t>0.367</a:t>
                      </a:r>
                    </a:p>
                  </a:txBody>
                  <a:tcPr marL="54864" marR="54864" marT="18288" marB="18288" anchor="ctr">
                    <a:solidFill>
                      <a:srgbClr val="D8EFEA"/>
                    </a:solidFill>
                  </a:tcPr>
                </a:tc>
                <a:tc>
                  <a:txBody>
                    <a:bodyPr wrap="square"/>
                    <a:lstStyle/>
                    <a:p>
                      <a:pPr algn="ctr"/>
                      <a:r>
                        <a:rPr sz="1200" b="0" dirty="0">
                          <a:solidFill>
                            <a:srgbClr val="142B4D"/>
                          </a:solidFill>
                          <a:latin typeface="Arial"/>
                        </a:rPr>
                        <a:t>0.362</a:t>
                      </a:r>
                    </a:p>
                  </a:txBody>
                  <a:tcPr marL="54864" marR="54864" marT="18288" marB="18288" anchor="ctr">
                    <a:solidFill>
                      <a:srgbClr val="FFFFFF"/>
                    </a:solidFill>
                  </a:tcPr>
                </a:tc>
              </a:tr>
              <a:tr h="365760">
                <a:tc>
                  <a:txBody>
                    <a:bodyPr wrap="square"/>
                    <a:lstStyle/>
                    <a:p>
                      <a:pPr algn="l"/>
                      <a:r>
                        <a:rPr sz="1200" b="0" dirty="0">
                          <a:solidFill>
                            <a:srgbClr val="142B4D"/>
                          </a:solidFill>
                          <a:latin typeface="Arial"/>
                        </a:rPr>
                        <a:t>NR-ER</a:t>
                      </a:r>
                    </a:p>
                  </a:txBody>
                  <a:tcPr marL="54864" marR="54864" marT="18288" marB="18288" anchor="ctr">
                    <a:solidFill>
                      <a:srgbClr val="EAF3F5"/>
                    </a:solidFill>
                  </a:tcPr>
                </a:tc>
                <a:tc>
                  <a:txBody>
                    <a:bodyPr wrap="square"/>
                    <a:lstStyle/>
                    <a:p>
                      <a:pPr algn="ctr"/>
                      <a:r>
                        <a:rPr sz="1200" b="0" dirty="0">
                          <a:solidFill>
                            <a:srgbClr val="142B4D"/>
                          </a:solidFill>
                          <a:latin typeface="Arial"/>
                        </a:rPr>
                        <a:t>0.631</a:t>
                      </a:r>
                    </a:p>
                  </a:txBody>
                  <a:tcPr marL="54864" marR="54864" marT="18288" marB="18288" anchor="ctr">
                    <a:solidFill>
                      <a:srgbClr val="EAF3F5"/>
                    </a:solidFill>
                  </a:tcPr>
                </a:tc>
                <a:tc>
                  <a:txBody>
                    <a:bodyPr wrap="square"/>
                    <a:lstStyle/>
                    <a:p>
                      <a:pPr algn="ctr"/>
                      <a:r>
                        <a:rPr sz="1200" b="1" dirty="0">
                          <a:solidFill>
                            <a:srgbClr val="142B4D"/>
                          </a:solidFill>
                          <a:latin typeface="Arial"/>
                        </a:rPr>
                        <a:t>0.685</a:t>
                      </a:r>
                    </a:p>
                  </a:txBody>
                  <a:tcPr marL="54864" marR="54864" marT="18288" marB="18288" anchor="ctr">
                    <a:solidFill>
                      <a:srgbClr val="D8EFEA"/>
                    </a:solidFill>
                  </a:tcPr>
                </a:tc>
                <a:tc>
                  <a:txBody>
                    <a:bodyPr wrap="square"/>
                    <a:lstStyle/>
                    <a:p>
                      <a:pPr algn="ctr"/>
                      <a:r>
                        <a:rPr sz="1200" b="0" dirty="0">
                          <a:solidFill>
                            <a:srgbClr val="142B4D"/>
                          </a:solidFill>
                          <a:latin typeface="Arial"/>
                        </a:rPr>
                        <a:t>0.674</a:t>
                      </a:r>
                    </a:p>
                  </a:txBody>
                  <a:tcPr marL="54864" marR="54864" marT="18288" marB="18288" anchor="ctr">
                    <a:solidFill>
                      <a:srgbClr val="EAF3F5"/>
                    </a:solidFill>
                  </a:tcPr>
                </a:tc>
                <a:tc>
                  <a:txBody>
                    <a:bodyPr wrap="square"/>
                    <a:lstStyle/>
                    <a:p>
                      <a:pPr algn="ctr"/>
                      <a:r>
                        <a:rPr sz="1200" b="0" dirty="0">
                          <a:solidFill>
                            <a:srgbClr val="142B4D"/>
                          </a:solidFill>
                          <a:latin typeface="Arial"/>
                        </a:rPr>
                        <a:t>0.270</a:t>
                      </a:r>
                    </a:p>
                  </a:txBody>
                  <a:tcPr marL="54864" marR="54864" marT="18288" marB="18288" anchor="ctr">
                    <a:solidFill>
                      <a:srgbClr val="EAF3F5"/>
                    </a:solidFill>
                  </a:tcPr>
                </a:tc>
                <a:tc>
                  <a:txBody>
                    <a:bodyPr wrap="square"/>
                    <a:lstStyle/>
                    <a:p>
                      <a:pPr algn="ctr"/>
                      <a:r>
                        <a:rPr sz="1200" b="1" dirty="0">
                          <a:solidFill>
                            <a:srgbClr val="142B4D"/>
                          </a:solidFill>
                          <a:latin typeface="Arial"/>
                        </a:rPr>
                        <a:t>0.407</a:t>
                      </a:r>
                    </a:p>
                  </a:txBody>
                  <a:tcPr marL="54864" marR="54864" marT="18288" marB="18288" anchor="ctr">
                    <a:solidFill>
                      <a:srgbClr val="D8EFEA"/>
                    </a:solidFill>
                  </a:tcPr>
                </a:tc>
                <a:tc>
                  <a:txBody>
                    <a:bodyPr wrap="square"/>
                    <a:lstStyle/>
                    <a:p>
                      <a:pPr algn="ctr"/>
                      <a:r>
                        <a:rPr sz="1200" b="0" dirty="0">
                          <a:solidFill>
                            <a:srgbClr val="142B4D"/>
                          </a:solidFill>
                          <a:latin typeface="Arial"/>
                        </a:rPr>
                        <a:t>0.404</a:t>
                      </a:r>
                    </a:p>
                  </a:txBody>
                  <a:tcPr marL="54864" marR="54864" marT="18288" marB="18288" anchor="ctr">
                    <a:solidFill>
                      <a:srgbClr val="EAF3F5"/>
                    </a:solidFill>
                  </a:tcPr>
                </a:tc>
              </a:tr>
              <a:tr h="365760">
                <a:tc>
                  <a:txBody>
                    <a:bodyPr wrap="square"/>
                    <a:lstStyle/>
                    <a:p>
                      <a:pPr algn="l"/>
                      <a:r>
                        <a:rPr sz="1200" b="0" dirty="0">
                          <a:solidFill>
                            <a:srgbClr val="142B4D"/>
                          </a:solidFill>
                          <a:latin typeface="Arial"/>
                        </a:rPr>
                        <a:t>NR-ER-LBD</a:t>
                      </a:r>
                    </a:p>
                  </a:txBody>
                  <a:tcPr marL="54864" marR="54864" marT="18288" marB="18288" anchor="ctr">
                    <a:solidFill>
                      <a:srgbClr val="FFFFFF"/>
                    </a:solidFill>
                  </a:tcPr>
                </a:tc>
                <a:tc>
                  <a:txBody>
                    <a:bodyPr wrap="square"/>
                    <a:lstStyle/>
                    <a:p>
                      <a:pPr algn="ctr"/>
                      <a:r>
                        <a:rPr sz="1200" b="0" dirty="0">
                          <a:solidFill>
                            <a:srgbClr val="142B4D"/>
                          </a:solidFill>
                          <a:latin typeface="Arial"/>
                        </a:rPr>
                        <a:t>0.705</a:t>
                      </a:r>
                    </a:p>
                  </a:txBody>
                  <a:tcPr marL="54864" marR="54864" marT="18288" marB="18288" anchor="ctr">
                    <a:solidFill>
                      <a:srgbClr val="FFFFFF"/>
                    </a:solidFill>
                  </a:tcPr>
                </a:tc>
                <a:tc>
                  <a:txBody>
                    <a:bodyPr wrap="square"/>
                    <a:lstStyle/>
                    <a:p>
                      <a:pPr algn="ctr"/>
                      <a:r>
                        <a:rPr sz="1200" b="1" dirty="0">
                          <a:solidFill>
                            <a:srgbClr val="142B4D"/>
                          </a:solidFill>
                          <a:latin typeface="Arial"/>
                        </a:rPr>
                        <a:t>0.742</a:t>
                      </a:r>
                    </a:p>
                  </a:txBody>
                  <a:tcPr marL="54864" marR="54864" marT="18288" marB="18288" anchor="ctr">
                    <a:solidFill>
                      <a:srgbClr val="D8EFEA"/>
                    </a:solidFill>
                  </a:tcPr>
                </a:tc>
                <a:tc>
                  <a:txBody>
                    <a:bodyPr wrap="square"/>
                    <a:lstStyle/>
                    <a:p>
                      <a:pPr algn="ctr"/>
                      <a:r>
                        <a:rPr sz="1200" b="0" dirty="0">
                          <a:solidFill>
                            <a:srgbClr val="142B4D"/>
                          </a:solidFill>
                          <a:latin typeface="Arial"/>
                        </a:rPr>
                        <a:t>0.664</a:t>
                      </a:r>
                    </a:p>
                  </a:txBody>
                  <a:tcPr marL="54864" marR="54864" marT="18288" marB="18288" anchor="ctr">
                    <a:solidFill>
                      <a:srgbClr val="FFFFFF"/>
                    </a:solidFill>
                  </a:tcPr>
                </a:tc>
                <a:tc>
                  <a:txBody>
                    <a:bodyPr wrap="square"/>
                    <a:lstStyle/>
                    <a:p>
                      <a:pPr algn="ctr"/>
                      <a:r>
                        <a:rPr sz="1200" b="0" dirty="0">
                          <a:solidFill>
                            <a:srgbClr val="142B4D"/>
                          </a:solidFill>
                          <a:latin typeface="Arial"/>
                        </a:rPr>
                        <a:t>0.246</a:t>
                      </a:r>
                    </a:p>
                  </a:txBody>
                  <a:tcPr marL="54864" marR="54864" marT="18288" marB="18288" anchor="ctr">
                    <a:solidFill>
                      <a:srgbClr val="FFFFFF"/>
                    </a:solidFill>
                  </a:tcPr>
                </a:tc>
                <a:tc>
                  <a:txBody>
                    <a:bodyPr wrap="square"/>
                    <a:lstStyle/>
                    <a:p>
                      <a:pPr algn="ctr"/>
                      <a:r>
                        <a:rPr sz="1200" b="1" dirty="0">
                          <a:solidFill>
                            <a:srgbClr val="142B4D"/>
                          </a:solidFill>
                          <a:latin typeface="Arial"/>
                        </a:rPr>
                        <a:t>0.310</a:t>
                      </a:r>
                    </a:p>
                  </a:txBody>
                  <a:tcPr marL="54864" marR="54864" marT="18288" marB="18288" anchor="ctr">
                    <a:solidFill>
                      <a:srgbClr val="D8EFEA"/>
                    </a:solidFill>
                  </a:tcPr>
                </a:tc>
                <a:tc>
                  <a:txBody>
                    <a:bodyPr wrap="square"/>
                    <a:lstStyle/>
                    <a:p>
                      <a:pPr algn="ctr"/>
                      <a:r>
                        <a:rPr sz="1200" b="0" dirty="0">
                          <a:solidFill>
                            <a:srgbClr val="142B4D"/>
                          </a:solidFill>
                          <a:latin typeface="Arial"/>
                        </a:rPr>
                        <a:t>0.299</a:t>
                      </a:r>
                    </a:p>
                  </a:txBody>
                  <a:tcPr marL="54864" marR="54864" marT="18288" marB="18288" anchor="ctr">
                    <a:solidFill>
                      <a:srgbClr val="FFFFFF"/>
                    </a:solidFill>
                  </a:tcPr>
                </a:tc>
              </a:tr>
              <a:tr h="365760">
                <a:tc>
                  <a:txBody>
                    <a:bodyPr wrap="square"/>
                    <a:lstStyle/>
                    <a:p>
                      <a:pPr algn="l"/>
                      <a:r>
                        <a:rPr sz="1200" b="0" dirty="0">
                          <a:solidFill>
                            <a:srgbClr val="142B4D"/>
                          </a:solidFill>
                          <a:latin typeface="Arial"/>
                        </a:rPr>
                        <a:t>NR-PPAR-gamma</a:t>
                      </a:r>
                    </a:p>
                  </a:txBody>
                  <a:tcPr marL="54864" marR="54864" marT="18288" marB="18288" anchor="ctr">
                    <a:solidFill>
                      <a:srgbClr val="EAF3F5"/>
                    </a:solidFill>
                  </a:tcPr>
                </a:tc>
                <a:tc>
                  <a:txBody>
                    <a:bodyPr wrap="square"/>
                    <a:lstStyle/>
                    <a:p>
                      <a:pPr algn="ctr"/>
                      <a:r>
                        <a:rPr sz="1200" b="0" dirty="0">
                          <a:solidFill>
                            <a:srgbClr val="142B4D"/>
                          </a:solidFill>
                          <a:latin typeface="Arial"/>
                        </a:rPr>
                        <a:t>0.708</a:t>
                      </a:r>
                    </a:p>
                  </a:txBody>
                  <a:tcPr marL="54864" marR="54864" marT="18288" marB="18288" anchor="ctr">
                    <a:solidFill>
                      <a:srgbClr val="EAF3F5"/>
                    </a:solidFill>
                  </a:tcPr>
                </a:tc>
                <a:tc>
                  <a:txBody>
                    <a:bodyPr wrap="square"/>
                    <a:lstStyle/>
                    <a:p>
                      <a:pPr algn="ctr"/>
                      <a:r>
                        <a:rPr sz="1200" b="1" dirty="0">
                          <a:solidFill>
                            <a:srgbClr val="142B4D"/>
                          </a:solidFill>
                          <a:latin typeface="Arial"/>
                        </a:rPr>
                        <a:t>0.753</a:t>
                      </a:r>
                    </a:p>
                  </a:txBody>
                  <a:tcPr marL="54864" marR="54864" marT="18288" marB="18288" anchor="ctr">
                    <a:solidFill>
                      <a:srgbClr val="D8EFEA"/>
                    </a:solidFill>
                  </a:tcPr>
                </a:tc>
                <a:tc>
                  <a:txBody>
                    <a:bodyPr wrap="square"/>
                    <a:lstStyle/>
                    <a:p>
                      <a:pPr algn="ctr"/>
                      <a:r>
                        <a:rPr sz="1200" b="0" dirty="0">
                          <a:solidFill>
                            <a:srgbClr val="142B4D"/>
                          </a:solidFill>
                          <a:latin typeface="Arial"/>
                        </a:rPr>
                        <a:t>0.739</a:t>
                      </a:r>
                    </a:p>
                  </a:txBody>
                  <a:tcPr marL="54864" marR="54864" marT="18288" marB="18288" anchor="ctr">
                    <a:solidFill>
                      <a:srgbClr val="EAF3F5"/>
                    </a:solidFill>
                  </a:tcPr>
                </a:tc>
                <a:tc>
                  <a:txBody>
                    <a:bodyPr wrap="square"/>
                    <a:lstStyle/>
                    <a:p>
                      <a:pPr algn="ctr"/>
                      <a:r>
                        <a:rPr sz="1200" b="0" dirty="0">
                          <a:solidFill>
                            <a:srgbClr val="142B4D"/>
                          </a:solidFill>
                          <a:latin typeface="Arial"/>
                        </a:rPr>
                        <a:t>0.209</a:t>
                      </a:r>
                    </a:p>
                  </a:txBody>
                  <a:tcPr marL="54864" marR="54864" marT="18288" marB="18288" anchor="ctr">
                    <a:solidFill>
                      <a:srgbClr val="EAF3F5"/>
                    </a:solidFill>
                  </a:tcPr>
                </a:tc>
                <a:tc>
                  <a:txBody>
                    <a:bodyPr wrap="square"/>
                    <a:lstStyle/>
                    <a:p>
                      <a:pPr algn="ctr"/>
                      <a:r>
                        <a:rPr sz="1200" b="1" dirty="0">
                          <a:solidFill>
                            <a:srgbClr val="142B4D"/>
                          </a:solidFill>
                          <a:latin typeface="Arial"/>
                        </a:rPr>
                        <a:t>0.339</a:t>
                      </a:r>
                    </a:p>
                  </a:txBody>
                  <a:tcPr marL="54864" marR="54864" marT="18288" marB="18288" anchor="ctr">
                    <a:solidFill>
                      <a:srgbClr val="D8EFEA"/>
                    </a:solidFill>
                  </a:tcPr>
                </a:tc>
                <a:tc>
                  <a:txBody>
                    <a:bodyPr wrap="square"/>
                    <a:lstStyle/>
                    <a:p>
                      <a:pPr algn="ctr"/>
                      <a:r>
                        <a:rPr sz="1200" b="0" dirty="0">
                          <a:solidFill>
                            <a:srgbClr val="142B4D"/>
                          </a:solidFill>
                          <a:latin typeface="Arial"/>
                        </a:rPr>
                        <a:t>0.253</a:t>
                      </a:r>
                    </a:p>
                  </a:txBody>
                  <a:tcPr marL="54864" marR="54864" marT="18288" marB="18288" anchor="ctr">
                    <a:solidFill>
                      <a:srgbClr val="EAF3F5"/>
                    </a:solidFill>
                  </a:tcPr>
                </a:tc>
              </a:tr>
              <a:tr h="365760">
                <a:tc>
                  <a:txBody>
                    <a:bodyPr wrap="square"/>
                    <a:lstStyle/>
                    <a:p>
                      <a:pPr algn="l"/>
                      <a:r>
                        <a:rPr sz="1200" b="0" dirty="0">
                          <a:solidFill>
                            <a:srgbClr val="142B4D"/>
                          </a:solidFill>
                          <a:latin typeface="Arial"/>
                        </a:rPr>
                        <a:t>SR-ARE</a:t>
                      </a:r>
                    </a:p>
                  </a:txBody>
                  <a:tcPr marL="54864" marR="54864" marT="18288" marB="18288" anchor="ctr">
                    <a:solidFill>
                      <a:srgbClr val="FFFFFF"/>
                    </a:solidFill>
                  </a:tcPr>
                </a:tc>
                <a:tc>
                  <a:txBody>
                    <a:bodyPr wrap="square"/>
                    <a:lstStyle/>
                    <a:p>
                      <a:pPr algn="ctr"/>
                      <a:r>
                        <a:rPr sz="1200" b="0" dirty="0">
                          <a:solidFill>
                            <a:srgbClr val="142B4D"/>
                          </a:solidFill>
                          <a:latin typeface="Arial"/>
                        </a:rPr>
                        <a:t>0.702</a:t>
                      </a:r>
                    </a:p>
                  </a:txBody>
                  <a:tcPr marL="54864" marR="54864" marT="18288" marB="18288" anchor="ctr">
                    <a:solidFill>
                      <a:srgbClr val="FFFFFF"/>
                    </a:solidFill>
                  </a:tcPr>
                </a:tc>
                <a:tc>
                  <a:txBody>
                    <a:bodyPr wrap="square"/>
                    <a:lstStyle/>
                    <a:p>
                      <a:pPr algn="ctr"/>
                      <a:r>
                        <a:rPr sz="1200" b="1" dirty="0">
                          <a:solidFill>
                            <a:srgbClr val="142B4D"/>
                          </a:solidFill>
                          <a:latin typeface="Arial"/>
                        </a:rPr>
                        <a:t>0.764</a:t>
                      </a:r>
                    </a:p>
                  </a:txBody>
                  <a:tcPr marL="54864" marR="54864" marT="18288" marB="18288" anchor="ctr">
                    <a:solidFill>
                      <a:srgbClr val="D8EFEA"/>
                    </a:solidFill>
                  </a:tcPr>
                </a:tc>
                <a:tc>
                  <a:txBody>
                    <a:bodyPr wrap="square"/>
                    <a:lstStyle/>
                    <a:p>
                      <a:pPr algn="ctr"/>
                      <a:r>
                        <a:rPr sz="1200" b="0" dirty="0">
                          <a:solidFill>
                            <a:srgbClr val="142B4D"/>
                          </a:solidFill>
                          <a:latin typeface="Arial"/>
                        </a:rPr>
                        <a:t>0.742</a:t>
                      </a:r>
                    </a:p>
                  </a:txBody>
                  <a:tcPr marL="54864" marR="54864" marT="18288" marB="18288" anchor="ctr">
                    <a:solidFill>
                      <a:srgbClr val="FFFFFF"/>
                    </a:solidFill>
                  </a:tcPr>
                </a:tc>
                <a:tc>
                  <a:txBody>
                    <a:bodyPr wrap="square"/>
                    <a:lstStyle/>
                    <a:p>
                      <a:pPr algn="ctr"/>
                      <a:r>
                        <a:rPr sz="1200" b="0" dirty="0">
                          <a:solidFill>
                            <a:srgbClr val="142B4D"/>
                          </a:solidFill>
                          <a:latin typeface="Arial"/>
                        </a:rPr>
                        <a:t>0.440</a:t>
                      </a:r>
                    </a:p>
                  </a:txBody>
                  <a:tcPr marL="54864" marR="54864" marT="18288" marB="18288" anchor="ctr">
                    <a:solidFill>
                      <a:srgbClr val="FFFFFF"/>
                    </a:solidFill>
                  </a:tcPr>
                </a:tc>
                <a:tc>
                  <a:txBody>
                    <a:bodyPr wrap="square"/>
                    <a:lstStyle/>
                    <a:p>
                      <a:pPr algn="ctr"/>
                      <a:r>
                        <a:rPr sz="1200" b="1" dirty="0">
                          <a:solidFill>
                            <a:srgbClr val="142B4D"/>
                          </a:solidFill>
                          <a:latin typeface="Arial"/>
                        </a:rPr>
                        <a:t>0.526</a:t>
                      </a:r>
                    </a:p>
                  </a:txBody>
                  <a:tcPr marL="54864" marR="54864" marT="18288" marB="18288" anchor="ctr">
                    <a:solidFill>
                      <a:srgbClr val="D8EFEA"/>
                    </a:solidFill>
                  </a:tcPr>
                </a:tc>
                <a:tc>
                  <a:txBody>
                    <a:bodyPr wrap="square"/>
                    <a:lstStyle/>
                    <a:p>
                      <a:pPr algn="ctr"/>
                      <a:r>
                        <a:rPr sz="1200" b="0" dirty="0">
                          <a:solidFill>
                            <a:srgbClr val="142B4D"/>
                          </a:solidFill>
                          <a:latin typeface="Arial"/>
                        </a:rPr>
                        <a:t>0.499</a:t>
                      </a:r>
                    </a:p>
                  </a:txBody>
                  <a:tcPr marL="54864" marR="54864" marT="18288" marB="18288" anchor="ctr">
                    <a:solidFill>
                      <a:srgbClr val="FFFFFF"/>
                    </a:solidFill>
                  </a:tcPr>
                </a:tc>
              </a:tr>
              <a:tr h="365760">
                <a:tc>
                  <a:txBody>
                    <a:bodyPr wrap="square"/>
                    <a:lstStyle/>
                    <a:p>
                      <a:pPr algn="l"/>
                      <a:r>
                        <a:rPr sz="1200" b="0" dirty="0">
                          <a:solidFill>
                            <a:srgbClr val="142B4D"/>
                          </a:solidFill>
                          <a:latin typeface="Arial"/>
                        </a:rPr>
                        <a:t>SR-ATAD5</a:t>
                      </a:r>
                    </a:p>
                  </a:txBody>
                  <a:tcPr marL="54864" marR="54864" marT="18288" marB="18288" anchor="ctr">
                    <a:solidFill>
                      <a:srgbClr val="EAF3F5"/>
                    </a:solidFill>
                  </a:tcPr>
                </a:tc>
                <a:tc>
                  <a:txBody>
                    <a:bodyPr wrap="square"/>
                    <a:lstStyle/>
                    <a:p>
                      <a:pPr algn="ctr"/>
                      <a:r>
                        <a:rPr sz="1200" b="0" dirty="0">
                          <a:solidFill>
                            <a:srgbClr val="142B4D"/>
                          </a:solidFill>
                          <a:latin typeface="Arial"/>
                        </a:rPr>
                        <a:t>0.776</a:t>
                      </a:r>
                    </a:p>
                  </a:txBody>
                  <a:tcPr marL="54864" marR="54864" marT="18288" marB="18288" anchor="ctr">
                    <a:solidFill>
                      <a:srgbClr val="EAF3F5"/>
                    </a:solidFill>
                  </a:tcPr>
                </a:tc>
                <a:tc>
                  <a:txBody>
                    <a:bodyPr wrap="square"/>
                    <a:lstStyle/>
                    <a:p>
                      <a:pPr algn="ctr"/>
                      <a:r>
                        <a:rPr sz="1200" b="1" dirty="0">
                          <a:solidFill>
                            <a:srgbClr val="142B4D"/>
                          </a:solidFill>
                          <a:latin typeface="Arial"/>
                        </a:rPr>
                        <a:t>0.777</a:t>
                      </a:r>
                    </a:p>
                  </a:txBody>
                  <a:tcPr marL="54864" marR="54864" marT="18288" marB="18288" anchor="ctr">
                    <a:solidFill>
                      <a:srgbClr val="D8EFEA"/>
                    </a:solidFill>
                  </a:tcPr>
                </a:tc>
                <a:tc>
                  <a:txBody>
                    <a:bodyPr wrap="square"/>
                    <a:lstStyle/>
                    <a:p>
                      <a:pPr algn="ctr"/>
                      <a:r>
                        <a:rPr sz="1200" b="0" dirty="0">
                          <a:solidFill>
                            <a:srgbClr val="142B4D"/>
                          </a:solidFill>
                          <a:latin typeface="Arial"/>
                        </a:rPr>
                        <a:t>0.757</a:t>
                      </a:r>
                    </a:p>
                  </a:txBody>
                  <a:tcPr marL="54864" marR="54864" marT="18288" marB="18288" anchor="ctr">
                    <a:solidFill>
                      <a:srgbClr val="EAF3F5"/>
                    </a:solidFill>
                  </a:tcPr>
                </a:tc>
                <a:tc>
                  <a:txBody>
                    <a:bodyPr wrap="square"/>
                    <a:lstStyle/>
                    <a:p>
                      <a:pPr algn="ctr"/>
                      <a:r>
                        <a:rPr sz="1200" b="0" dirty="0">
                          <a:solidFill>
                            <a:srgbClr val="142B4D"/>
                          </a:solidFill>
                          <a:latin typeface="Arial"/>
                        </a:rPr>
                        <a:t>0.187</a:t>
                      </a:r>
                    </a:p>
                  </a:txBody>
                  <a:tcPr marL="54864" marR="54864" marT="18288" marB="18288" anchor="ctr">
                    <a:solidFill>
                      <a:srgbClr val="EAF3F5"/>
                    </a:solidFill>
                  </a:tcPr>
                </a:tc>
                <a:tc>
                  <a:txBody>
                    <a:bodyPr wrap="square"/>
                    <a:lstStyle/>
                    <a:p>
                      <a:pPr algn="ctr"/>
                      <a:r>
                        <a:rPr sz="1200" b="0" dirty="0">
                          <a:solidFill>
                            <a:srgbClr val="142B4D"/>
                          </a:solidFill>
                          <a:latin typeface="Arial"/>
                        </a:rPr>
                        <a:t>0.230</a:t>
                      </a:r>
                    </a:p>
                  </a:txBody>
                  <a:tcPr marL="54864" marR="54864" marT="18288" marB="18288" anchor="ctr">
                    <a:solidFill>
                      <a:srgbClr val="EAF3F5"/>
                    </a:solidFill>
                  </a:tcPr>
                </a:tc>
                <a:tc>
                  <a:txBody>
                    <a:bodyPr wrap="square"/>
                    <a:lstStyle/>
                    <a:p>
                      <a:pPr algn="ctr"/>
                      <a:r>
                        <a:rPr sz="1200" b="1" dirty="0">
                          <a:solidFill>
                            <a:srgbClr val="142B4D"/>
                          </a:solidFill>
                          <a:latin typeface="Arial"/>
                        </a:rPr>
                        <a:t>0.247</a:t>
                      </a:r>
                    </a:p>
                  </a:txBody>
                  <a:tcPr marL="54864" marR="54864" marT="18288" marB="18288" anchor="ctr">
                    <a:solidFill>
                      <a:srgbClr val="D8EFEA"/>
                    </a:solidFill>
                  </a:tcPr>
                </a:tc>
              </a:tr>
              <a:tr h="365760">
                <a:tc>
                  <a:txBody>
                    <a:bodyPr wrap="square"/>
                    <a:lstStyle/>
                    <a:p>
                      <a:pPr algn="l"/>
                      <a:r>
                        <a:rPr sz="1200" b="0" dirty="0">
                          <a:solidFill>
                            <a:srgbClr val="142B4D"/>
                          </a:solidFill>
                          <a:latin typeface="Arial"/>
                        </a:rPr>
                        <a:t>SR-HSE</a:t>
                      </a:r>
                    </a:p>
                  </a:txBody>
                  <a:tcPr marL="54864" marR="54864" marT="18288" marB="18288" anchor="ctr">
                    <a:solidFill>
                      <a:srgbClr val="FFFFFF"/>
                    </a:solidFill>
                  </a:tcPr>
                </a:tc>
                <a:tc>
                  <a:txBody>
                    <a:bodyPr wrap="square"/>
                    <a:lstStyle/>
                    <a:p>
                      <a:pPr algn="ctr"/>
                      <a:r>
                        <a:rPr sz="1200" b="0" dirty="0">
                          <a:solidFill>
                            <a:srgbClr val="142B4D"/>
                          </a:solidFill>
                          <a:latin typeface="Arial"/>
                        </a:rPr>
                        <a:t>0.726</a:t>
                      </a:r>
                    </a:p>
                  </a:txBody>
                  <a:tcPr marL="54864" marR="54864" marT="18288" marB="18288" anchor="ctr">
                    <a:solidFill>
                      <a:srgbClr val="FFFFFF"/>
                    </a:solidFill>
                  </a:tcPr>
                </a:tc>
                <a:tc>
                  <a:txBody>
                    <a:bodyPr wrap="square"/>
                    <a:lstStyle/>
                    <a:p>
                      <a:pPr algn="ctr"/>
                      <a:r>
                        <a:rPr sz="1200" b="1" dirty="0">
                          <a:solidFill>
                            <a:srgbClr val="142B4D"/>
                          </a:solidFill>
                          <a:latin typeface="Arial"/>
                        </a:rPr>
                        <a:t>0.739</a:t>
                      </a:r>
                    </a:p>
                  </a:txBody>
                  <a:tcPr marL="54864" marR="54864" marT="18288" marB="18288" anchor="ctr">
                    <a:solidFill>
                      <a:srgbClr val="D8EFEA"/>
                    </a:solidFill>
                  </a:tcPr>
                </a:tc>
                <a:tc>
                  <a:txBody>
                    <a:bodyPr wrap="square"/>
                    <a:lstStyle/>
                    <a:p>
                      <a:pPr algn="ctr"/>
                      <a:r>
                        <a:rPr sz="1200" b="0" dirty="0">
                          <a:solidFill>
                            <a:srgbClr val="142B4D"/>
                          </a:solidFill>
                          <a:latin typeface="Arial"/>
                        </a:rPr>
                        <a:t>0.727</a:t>
                      </a:r>
                    </a:p>
                  </a:txBody>
                  <a:tcPr marL="54864" marR="54864" marT="18288" marB="18288" anchor="ctr">
                    <a:solidFill>
                      <a:srgbClr val="FFFFFF"/>
                    </a:solidFill>
                  </a:tcPr>
                </a:tc>
                <a:tc>
                  <a:txBody>
                    <a:bodyPr wrap="square"/>
                    <a:lstStyle/>
                    <a:p>
                      <a:pPr algn="ctr"/>
                      <a:r>
                        <a:rPr sz="1200" b="0" dirty="0">
                          <a:solidFill>
                            <a:srgbClr val="142B4D"/>
                          </a:solidFill>
                          <a:latin typeface="Arial"/>
                        </a:rPr>
                        <a:t>0.165</a:t>
                      </a:r>
                    </a:p>
                  </a:txBody>
                  <a:tcPr marL="54864" marR="54864" marT="18288" marB="18288" anchor="ctr">
                    <a:solidFill>
                      <a:srgbClr val="FFFFFF"/>
                    </a:solidFill>
                  </a:tcPr>
                </a:tc>
                <a:tc>
                  <a:txBody>
                    <a:bodyPr wrap="square"/>
                    <a:lstStyle/>
                    <a:p>
                      <a:pPr algn="ctr"/>
                      <a:r>
                        <a:rPr sz="1200" b="1" dirty="0">
                          <a:solidFill>
                            <a:srgbClr val="142B4D"/>
                          </a:solidFill>
                          <a:latin typeface="Arial"/>
                        </a:rPr>
                        <a:t>0.267</a:t>
                      </a:r>
                    </a:p>
                  </a:txBody>
                  <a:tcPr marL="54864" marR="54864" marT="18288" marB="18288" anchor="ctr">
                    <a:solidFill>
                      <a:srgbClr val="D8EFEA"/>
                    </a:solidFill>
                  </a:tcPr>
                </a:tc>
                <a:tc>
                  <a:txBody>
                    <a:bodyPr wrap="square"/>
                    <a:lstStyle/>
                    <a:p>
                      <a:pPr algn="ctr"/>
                      <a:r>
                        <a:rPr sz="1200" b="0" dirty="0">
                          <a:solidFill>
                            <a:srgbClr val="142B4D"/>
                          </a:solidFill>
                          <a:latin typeface="Arial"/>
                        </a:rPr>
                        <a:t>0.266</a:t>
                      </a:r>
                    </a:p>
                  </a:txBody>
                  <a:tcPr marL="54864" marR="54864" marT="18288" marB="18288" anchor="ctr">
                    <a:solidFill>
                      <a:srgbClr val="FFFFFF"/>
                    </a:solidFill>
                  </a:tcPr>
                </a:tc>
              </a:tr>
              <a:tr h="365760">
                <a:tc>
                  <a:txBody>
                    <a:bodyPr wrap="square"/>
                    <a:lstStyle/>
                    <a:p>
                      <a:pPr algn="l"/>
                      <a:r>
                        <a:rPr sz="1200" b="0" dirty="0">
                          <a:solidFill>
                            <a:srgbClr val="142B4D"/>
                          </a:solidFill>
                          <a:latin typeface="Arial"/>
                        </a:rPr>
                        <a:t>SR-MMP</a:t>
                      </a:r>
                    </a:p>
                  </a:txBody>
                  <a:tcPr marL="54864" marR="54864" marT="18288" marB="18288" anchor="ctr">
                    <a:solidFill>
                      <a:srgbClr val="EAF3F5"/>
                    </a:solidFill>
                  </a:tcPr>
                </a:tc>
                <a:tc>
                  <a:txBody>
                    <a:bodyPr wrap="square"/>
                    <a:lstStyle/>
                    <a:p>
                      <a:pPr algn="ctr"/>
                      <a:r>
                        <a:rPr sz="1200" b="0" dirty="0">
                          <a:solidFill>
                            <a:srgbClr val="142B4D"/>
                          </a:solidFill>
                          <a:latin typeface="Arial"/>
                        </a:rPr>
                        <a:t>0.836</a:t>
                      </a:r>
                    </a:p>
                  </a:txBody>
                  <a:tcPr marL="54864" marR="54864" marT="18288" marB="18288" anchor="ctr">
                    <a:solidFill>
                      <a:srgbClr val="EAF3F5"/>
                    </a:solidFill>
                  </a:tcPr>
                </a:tc>
                <a:tc>
                  <a:txBody>
                    <a:bodyPr wrap="square"/>
                    <a:lstStyle/>
                    <a:p>
                      <a:pPr algn="ctr"/>
                      <a:r>
                        <a:rPr sz="1200" b="0" dirty="0">
                          <a:solidFill>
                            <a:srgbClr val="142B4D"/>
                          </a:solidFill>
                          <a:latin typeface="Arial"/>
                        </a:rPr>
                        <a:t>0.863</a:t>
                      </a:r>
                    </a:p>
                  </a:txBody>
                  <a:tcPr marL="54864" marR="54864" marT="18288" marB="18288" anchor="ctr">
                    <a:solidFill>
                      <a:srgbClr val="EAF3F5"/>
                    </a:solidFill>
                  </a:tcPr>
                </a:tc>
                <a:tc>
                  <a:txBody>
                    <a:bodyPr wrap="square"/>
                    <a:lstStyle/>
                    <a:p>
                      <a:pPr algn="ctr"/>
                      <a:r>
                        <a:rPr sz="1200" b="1" dirty="0">
                          <a:solidFill>
                            <a:srgbClr val="142B4D"/>
                          </a:solidFill>
                          <a:latin typeface="Arial"/>
                        </a:rPr>
                        <a:t>0.879</a:t>
                      </a:r>
                    </a:p>
                  </a:txBody>
                  <a:tcPr marL="54864" marR="54864" marT="18288" marB="18288" anchor="ctr">
                    <a:solidFill>
                      <a:srgbClr val="D8EFEA"/>
                    </a:solidFill>
                  </a:tcPr>
                </a:tc>
                <a:tc>
                  <a:txBody>
                    <a:bodyPr wrap="square"/>
                    <a:lstStyle/>
                    <a:p>
                      <a:pPr algn="ctr"/>
                      <a:r>
                        <a:rPr sz="1200" b="0" dirty="0">
                          <a:solidFill>
                            <a:srgbClr val="142B4D"/>
                          </a:solidFill>
                          <a:latin typeface="Arial"/>
                        </a:rPr>
                        <a:t>0.604</a:t>
                      </a:r>
                    </a:p>
                  </a:txBody>
                  <a:tcPr marL="54864" marR="54864" marT="18288" marB="18288" anchor="ctr">
                    <a:solidFill>
                      <a:srgbClr val="EAF3F5"/>
                    </a:solidFill>
                  </a:tcPr>
                </a:tc>
                <a:tc>
                  <a:txBody>
                    <a:bodyPr wrap="square"/>
                    <a:lstStyle/>
                    <a:p>
                      <a:pPr algn="ctr"/>
                      <a:r>
                        <a:rPr sz="1200" b="0" dirty="0">
                          <a:solidFill>
                            <a:srgbClr val="142B4D"/>
                          </a:solidFill>
                          <a:latin typeface="Arial"/>
                        </a:rPr>
                        <a:t>0.583</a:t>
                      </a:r>
                    </a:p>
                  </a:txBody>
                  <a:tcPr marL="54864" marR="54864" marT="18288" marB="18288" anchor="ctr">
                    <a:solidFill>
                      <a:srgbClr val="EAF3F5"/>
                    </a:solidFill>
                  </a:tcPr>
                </a:tc>
                <a:tc>
                  <a:txBody>
                    <a:bodyPr wrap="square"/>
                    <a:lstStyle/>
                    <a:p>
                      <a:pPr algn="ctr"/>
                      <a:r>
                        <a:rPr sz="1200" b="1" dirty="0">
                          <a:solidFill>
                            <a:srgbClr val="142B4D"/>
                          </a:solidFill>
                          <a:latin typeface="Arial"/>
                        </a:rPr>
                        <a:t>0.640</a:t>
                      </a:r>
                    </a:p>
                  </a:txBody>
                  <a:tcPr marL="54864" marR="54864" marT="18288" marB="18288" anchor="ctr">
                    <a:solidFill>
                      <a:srgbClr val="D8EFEA"/>
                    </a:solidFill>
                  </a:tcPr>
                </a:tc>
              </a:tr>
              <a:tr h="365760">
                <a:tc>
                  <a:txBody>
                    <a:bodyPr wrap="square"/>
                    <a:lstStyle/>
                    <a:p>
                      <a:pPr algn="l"/>
                      <a:r>
                        <a:rPr sz="1200" b="0" dirty="0">
                          <a:solidFill>
                            <a:srgbClr val="142B4D"/>
                          </a:solidFill>
                          <a:latin typeface="Arial"/>
                        </a:rPr>
                        <a:t>SR-p53</a:t>
                      </a:r>
                    </a:p>
                  </a:txBody>
                  <a:tcPr marL="54864" marR="54864" marT="18288" marB="18288" anchor="ctr">
                    <a:solidFill>
                      <a:srgbClr val="FFFFFF"/>
                    </a:solidFill>
                  </a:tcPr>
                </a:tc>
                <a:tc>
                  <a:txBody>
                    <a:bodyPr wrap="square"/>
                    <a:lstStyle/>
                    <a:p>
                      <a:pPr algn="ctr"/>
                      <a:r>
                        <a:rPr sz="1200" b="0" dirty="0">
                          <a:solidFill>
                            <a:srgbClr val="142B4D"/>
                          </a:solidFill>
                          <a:latin typeface="Arial"/>
                        </a:rPr>
                        <a:t>0.730</a:t>
                      </a:r>
                    </a:p>
                  </a:txBody>
                  <a:tcPr marL="54864" marR="54864" marT="18288" marB="18288" anchor="ctr">
                    <a:solidFill>
                      <a:srgbClr val="FFFFFF"/>
                    </a:solidFill>
                  </a:tcPr>
                </a:tc>
                <a:tc>
                  <a:txBody>
                    <a:bodyPr wrap="square"/>
                    <a:lstStyle/>
                    <a:p>
                      <a:pPr algn="ctr"/>
                      <a:r>
                        <a:rPr sz="1200" b="0" dirty="0">
                          <a:solidFill>
                            <a:srgbClr val="142B4D"/>
                          </a:solidFill>
                          <a:latin typeface="Arial"/>
                        </a:rPr>
                        <a:t>0.796</a:t>
                      </a:r>
                    </a:p>
                  </a:txBody>
                  <a:tcPr marL="54864" marR="54864" marT="18288" marB="18288" anchor="ctr">
                    <a:solidFill>
                      <a:srgbClr val="FFFFFF"/>
                    </a:solidFill>
                  </a:tcPr>
                </a:tc>
                <a:tc>
                  <a:txBody>
                    <a:bodyPr wrap="square"/>
                    <a:lstStyle/>
                    <a:p>
                      <a:pPr algn="ctr"/>
                      <a:r>
                        <a:rPr sz="1200" b="1" dirty="0">
                          <a:solidFill>
                            <a:srgbClr val="142B4D"/>
                          </a:solidFill>
                          <a:latin typeface="Arial"/>
                        </a:rPr>
                        <a:t>0.806</a:t>
                      </a:r>
                    </a:p>
                  </a:txBody>
                  <a:tcPr marL="54864" marR="54864" marT="18288" marB="18288" anchor="ctr">
                    <a:solidFill>
                      <a:srgbClr val="D8EFEA"/>
                    </a:solidFill>
                  </a:tcPr>
                </a:tc>
                <a:tc>
                  <a:txBody>
                    <a:bodyPr wrap="square"/>
                    <a:lstStyle/>
                    <a:p>
                      <a:pPr algn="ctr"/>
                      <a:r>
                        <a:rPr sz="1200" b="0" dirty="0">
                          <a:solidFill>
                            <a:srgbClr val="142B4D"/>
                          </a:solidFill>
                          <a:latin typeface="Arial"/>
                        </a:rPr>
                        <a:t>0.249</a:t>
                      </a:r>
                    </a:p>
                  </a:txBody>
                  <a:tcPr marL="54864" marR="54864" marT="18288" marB="18288" anchor="ctr">
                    <a:solidFill>
                      <a:srgbClr val="FFFFFF"/>
                    </a:solidFill>
                  </a:tcPr>
                </a:tc>
                <a:tc>
                  <a:txBody>
                    <a:bodyPr wrap="square"/>
                    <a:lstStyle/>
                    <a:p>
                      <a:pPr algn="ctr"/>
                      <a:r>
                        <a:rPr sz="1200" b="0" dirty="0">
                          <a:solidFill>
                            <a:srgbClr val="142B4D"/>
                          </a:solidFill>
                          <a:latin typeface="Arial"/>
                        </a:rPr>
                        <a:t>0.315</a:t>
                      </a:r>
                    </a:p>
                  </a:txBody>
                  <a:tcPr marL="54864" marR="54864" marT="18288" marB="18288" anchor="ctr">
                    <a:solidFill>
                      <a:srgbClr val="FFFFFF"/>
                    </a:solidFill>
                  </a:tcPr>
                </a:tc>
                <a:tc>
                  <a:txBody>
                    <a:bodyPr wrap="square"/>
                    <a:lstStyle/>
                    <a:p>
                      <a:pPr algn="ctr"/>
                      <a:r>
                        <a:rPr sz="1200" b="1" dirty="0">
                          <a:solidFill>
                            <a:srgbClr val="142B4D"/>
                          </a:solidFill>
                          <a:latin typeface="Arial"/>
                        </a:rPr>
                        <a:t>0.361</a:t>
                      </a:r>
                    </a:p>
                  </a:txBody>
                  <a:tcPr marL="54864" marR="54864" marT="18288" marB="18288" anchor="ctr">
                    <a:solidFill>
                      <a:srgbClr val="D8EFEA"/>
                    </a:solidFill>
                  </a:tcPr>
                </a:tc>
              </a:tr>
            </a:tbl>
          </a:graphicData>
        </a:graphic>
      </p:graphicFrame>
      <p:sp>
        <p:nvSpPr>
          <p:cNvPr id="7" name="TextBox 6"/>
          <p:cNvSpPr txBox="1"/>
          <p:nvPr/>
        </p:nvSpPr>
        <p:spPr>
          <a:xfrm>
            <a:off x="8503920" y="1371600"/>
            <a:ext cx="3291840" cy="4846320"/>
          </a:xfrm>
          <a:prstGeom prst="rect">
            <a:avLst/>
          </a:prstGeom>
          <a:noFill/>
        </p:spPr>
        <p:txBody>
          <a:bodyPr wrap="square" anchor="t" lIns="45720" rIns="45720">
            <a:spAutoFit/>
          </a:bodyPr>
          <a:lstStyle/>
          <a:p>
            <a:pPr algn="l">
              <a:spcAft>
                <a:spcPts val="800"/>
              </a:spcAft>
            </a:pPr>
            <a:r>
              <a:rPr sz="1400" b="0" dirty="0">
                <a:solidFill>
                  <a:srgbClr val="555F6B"/>
                </a:solidFill>
                <a:latin typeface="Arial"/>
              </a:rPr>
              <a:t>Bold + teal highlight = highest in the row</a:t>
            </a:r>
          </a:p>
          <a:p>
            <a:pPr algn="l">
              <a:spcAft>
                <a:spcPts val="800"/>
              </a:spcAft>
            </a:pPr>
            <a:r>
              <a:rPr sz="1600" b="0" dirty="0">
                <a:solidFill>
                  <a:srgbClr val="142B4D"/>
                </a:solidFill>
                <a:latin typeface="Arial"/>
              </a:rPr>
              <a:t>•  RF has the highest ROC on 9 of 12 endpoints, XGBoost on 3</a:t>
            </a:r>
          </a:p>
          <a:p>
            <a:pPr algn="l">
              <a:spcAft>
                <a:spcPts val="800"/>
              </a:spcAft>
            </a:pPr>
            <a:r>
              <a:rPr sz="1600" b="0" dirty="0">
                <a:solidFill>
                  <a:srgbClr val="142B4D"/>
                </a:solidFill>
                <a:latin typeface="Arial"/>
              </a:rPr>
              <a:t>•  PR AUC: RF highest on 8, XGBoost on 4, LR on none</a:t>
            </a:r>
          </a:p>
          <a:p>
            <a:pPr algn="l">
              <a:spcAft>
                <a:spcPts val="800"/>
              </a:spcAft>
            </a:pPr>
            <a:r>
              <a:rPr sz="1600" b="0" dirty="0">
                <a:solidFill>
                  <a:srgbClr val="142B4D"/>
                </a:solidFill>
                <a:latin typeface="Arial"/>
              </a:rPr>
              <a:t>•  Lowest best PR AUC: SR-ATAD5 (0.247) and SR-HSE (0.267)</a:t>
            </a:r>
          </a:p>
          <a:p>
            <a:pPr algn="l">
              <a:spcAft>
                <a:spcPts val="800"/>
              </a:spcAft>
            </a:pPr>
            <a:r>
              <a:rPr sz="1600" b="0" dirty="0">
                <a:solidFill>
                  <a:srgbClr val="142B4D"/>
                </a:solidFill>
                <a:latin typeface="Arial"/>
              </a:rPr>
              <a:t>•  Only 20 to 109 test positives per endpoint: single-endpoint differences are noisy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nchor="ctr" lIns="45720" rIns="45720">
            <a:spAutoFit/>
          </a:bodyPr>
          <a:lstStyle/>
          <a:p>
            <a:pPr algn="l">
              <a:spcAft>
                <a:spcPts val="800"/>
              </a:spcAft>
            </a:pPr>
            <a:r>
              <a:rPr sz="3000" b="1" dirty="0">
                <a:solidFill>
                  <a:srgbClr val="142B4D"/>
                </a:solidFill>
                <a:latin typeface="Arial"/>
              </a:rPr>
              <a:t>How novel is the scaffold test set? Tanimoto similarity</a:t>
            </a:r>
          </a:p>
        </p:txBody>
      </p:sp>
      <p:sp>
        <p:nvSpPr>
          <p:cNvPr id="3" name="Rectangle 2"/>
          <p:cNvSpPr/>
          <p:nvPr/>
        </p:nvSpPr>
        <p:spPr>
          <a:xfrm>
            <a:off x="594360" y="1051560"/>
            <a:ext cx="1463040" cy="54864"/>
          </a:xfrm>
          <a:prstGeom prst="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800"/>
              </a:spcAft>
            </a:pPr>
            <a:r>
              <a:rPr sz="1000" b="0" dirty="0">
                <a:solidFill>
                  <a:srgbClr val="555F6B"/>
                </a:solidFill>
                <a:latin typeface="Arial"/>
              </a:rPr>
              <a:t>Tox21 Phase 1  |  classical ML baseline</a:t>
            </a:r>
          </a:p>
        </p:txBody>
      </p:sp>
      <p:sp>
        <p:nvSpPr>
          <p:cNvPr id="5" name="TextBox 4"/>
          <p:cNvSpPr txBox="1"/>
          <p:nvPr/>
        </p:nvSpPr>
        <p:spPr>
          <a:xfrm>
            <a:off x="10881360" y="6446520"/>
            <a:ext cx="822960" cy="274320"/>
          </a:xfrm>
          <a:prstGeom prst="rect">
            <a:avLst/>
          </a:prstGeom>
          <a:noFill/>
        </p:spPr>
        <p:txBody>
          <a:bodyPr wrap="square" anchor="t" lIns="45720" rIns="45720">
            <a:spAutoFit/>
          </a:bodyPr>
          <a:lstStyle/>
          <a:p>
            <a:pPr algn="r">
              <a:spcAft>
                <a:spcPts val="800"/>
              </a:spcAft>
            </a:pPr>
            <a:r>
              <a:rPr sz="1000" b="0" dirty="0">
                <a:solidFill>
                  <a:srgbClr val="555F6B"/>
                </a:solidFill>
                <a:latin typeface="Arial"/>
              </a:rPr>
              <a:t>11</a:t>
            </a:r>
          </a:p>
        </p:txBody>
      </p:sp>
      <p:pic>
        <p:nvPicPr>
          <p:cNvPr id="6" name="Picture 5" descr="tanimoto_similarity_distributions.png"/>
          <p:cNvPicPr>
            <a:picLocks noChangeAspect="1"/>
          </p:cNvPicPr>
          <p:nvPr/>
        </p:nvPicPr>
        <p:blipFill>
          <a:blip r:embed="rId3"/>
          <a:stretch>
            <a:fillRect/>
          </a:stretch>
        </p:blipFill>
        <p:spPr>
          <a:xfrm>
            <a:off x="548640" y="1893028"/>
            <a:ext cx="6949440" cy="3803462"/>
          </a:xfrm>
          <a:prstGeom prst="rect">
            <a:avLst/>
          </a:prstGeom>
        </p:spPr>
      </p:pic>
      <p:sp>
        <p:nvSpPr>
          <p:cNvPr id="7" name="TextBox 6"/>
          <p:cNvSpPr txBox="1"/>
          <p:nvPr/>
        </p:nvSpPr>
        <p:spPr>
          <a:xfrm>
            <a:off x="7772400" y="1463040"/>
            <a:ext cx="4023360" cy="4754880"/>
          </a:xfrm>
          <a:prstGeom prst="rect">
            <a:avLst/>
          </a:prstGeom>
          <a:noFill/>
        </p:spPr>
        <p:txBody>
          <a:bodyPr wrap="square" anchor="t" lIns="45720" rIns="45720">
            <a:spAutoFit/>
          </a:bodyPr>
          <a:lstStyle/>
          <a:p>
            <a:pPr algn="l">
              <a:spcAft>
                <a:spcPts val="800"/>
              </a:spcAft>
            </a:pPr>
            <a:r>
              <a:rPr sz="1900" b="1" dirty="0">
                <a:solidFill>
                  <a:srgbClr val="142B4D"/>
                </a:solidFill>
                <a:latin typeface="Arial"/>
              </a:rPr>
              <a:t>Mean max Tanimoto, test → train</a:t>
            </a:r>
          </a:p>
          <a:p>
            <a:pPr algn="l">
              <a:spcAft>
                <a:spcPts val="800"/>
              </a:spcAft>
            </a:pPr>
            <a:r>
              <a:rPr sz="2000" b="0" dirty="0">
                <a:solidFill>
                  <a:srgbClr val="142B4D"/>
                </a:solidFill>
                <a:latin typeface="Arial"/>
              </a:rPr>
              <a:t>•  Scaffold split: 0.428</a:t>
            </a:r>
          </a:p>
          <a:p>
            <a:pPr algn="l">
              <a:spcAft>
                <a:spcPts val="800"/>
              </a:spcAft>
            </a:pPr>
            <a:r>
              <a:rPr sz="2000" b="0" dirty="0">
                <a:solidFill>
                  <a:srgbClr val="142B4D"/>
                </a:solidFill>
                <a:latin typeface="Arial"/>
              </a:rPr>
              <a:t>•  Random split: 0.584</a:t>
            </a:r>
          </a:p>
          <a:p>
            <a:pPr algn="l">
              <a:spcAft>
                <a:spcPts val="800"/>
              </a:spcAft>
            </a:pPr>
            <a:r>
              <a:rPr sz="1700" b="0" dirty="0">
                <a:solidFill>
                  <a:srgbClr val="142B4D"/>
                </a:solidFill>
                <a:latin typeface="Arial"/>
              </a:rPr>
              <a:t>•  Analog with T ≥ 0.85: 13 of 771 scaffold test molecules vs 72 of 771 random</a:t>
            </a:r>
          </a:p>
          <a:p>
            <a:pPr algn="l">
              <a:spcAft>
                <a:spcPts val="800"/>
              </a:spcAft>
            </a:pPr>
            <a:r>
              <a:rPr sz="1700" b="0" dirty="0">
                <a:solidFill>
                  <a:srgbClr val="142B4D"/>
                </a:solidFill>
                <a:latin typeface="Arial"/>
              </a:rPr>
              <a:t>•  The scaffold test is less similar to training, but not free of close analogs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nchor="ctr" lIns="45720" rIns="45720">
            <a:spAutoFit/>
          </a:bodyPr>
          <a:lstStyle/>
          <a:p>
            <a:pPr algn="l">
              <a:spcAft>
                <a:spcPts val="800"/>
              </a:spcAft>
            </a:pPr>
            <a:r>
              <a:rPr sz="3000" b="1" dirty="0">
                <a:solidFill>
                  <a:srgbClr val="142B4D"/>
                </a:solidFill>
                <a:latin typeface="Arial"/>
              </a:rPr>
              <a:t>Limitations</a:t>
            </a:r>
          </a:p>
        </p:txBody>
      </p:sp>
      <p:sp>
        <p:nvSpPr>
          <p:cNvPr id="3" name="Rectangle 2"/>
          <p:cNvSpPr/>
          <p:nvPr/>
        </p:nvSpPr>
        <p:spPr>
          <a:xfrm>
            <a:off x="594360" y="1051560"/>
            <a:ext cx="1463040" cy="54864"/>
          </a:xfrm>
          <a:prstGeom prst="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800"/>
              </a:spcAft>
            </a:pPr>
            <a:r>
              <a:rPr sz="1000" b="0" dirty="0">
                <a:solidFill>
                  <a:srgbClr val="555F6B"/>
                </a:solidFill>
                <a:latin typeface="Arial"/>
              </a:rPr>
              <a:t>Tox21 Phase 1  |  classical ML baseline</a:t>
            </a:r>
          </a:p>
        </p:txBody>
      </p:sp>
      <p:sp>
        <p:nvSpPr>
          <p:cNvPr id="5" name="TextBox 4"/>
          <p:cNvSpPr txBox="1"/>
          <p:nvPr/>
        </p:nvSpPr>
        <p:spPr>
          <a:xfrm>
            <a:off x="10881360" y="6446520"/>
            <a:ext cx="822960" cy="274320"/>
          </a:xfrm>
          <a:prstGeom prst="rect">
            <a:avLst/>
          </a:prstGeom>
          <a:noFill/>
        </p:spPr>
        <p:txBody>
          <a:bodyPr wrap="square" anchor="t" lIns="45720" rIns="45720">
            <a:spAutoFit/>
          </a:bodyPr>
          <a:lstStyle/>
          <a:p>
            <a:pPr algn="r">
              <a:spcAft>
                <a:spcPts val="800"/>
              </a:spcAft>
            </a:pPr>
            <a:r>
              <a:rPr sz="1000" b="0" dirty="0">
                <a:solidFill>
                  <a:srgbClr val="555F6B"/>
                </a:solidFill>
                <a:latin typeface="Arial"/>
              </a:rPr>
              <a:t>12</a:t>
            </a:r>
          </a:p>
        </p:txBody>
      </p:sp>
      <p:sp>
        <p:nvSpPr>
          <p:cNvPr id="6" name="TextBox 5"/>
          <p:cNvSpPr txBox="1"/>
          <p:nvPr/>
        </p:nvSpPr>
        <p:spPr>
          <a:xfrm>
            <a:off x="548640" y="1371600"/>
            <a:ext cx="11064240" cy="4937760"/>
          </a:xfrm>
          <a:prstGeom prst="rect">
            <a:avLst/>
          </a:prstGeom>
          <a:noFill/>
        </p:spPr>
        <p:txBody>
          <a:bodyPr wrap="square" anchor="t" lIns="45720" rIns="45720">
            <a:spAutoFit/>
          </a:bodyPr>
          <a:lstStyle/>
          <a:p>
            <a:pPr algn="l">
              <a:spcAft>
                <a:spcPts val="800"/>
              </a:spcAft>
            </a:pPr>
            <a:r>
              <a:rPr sz="1900" b="0" dirty="0">
                <a:solidFill>
                  <a:srgbClr val="142B4D"/>
                </a:solidFill>
                <a:latin typeface="Arial"/>
              </a:rPr>
              <a:t>•  One fixed scaffold split and one fixed random split: seed sd covers model randomness only, not split variation</a:t>
            </a:r>
          </a:p>
          <a:p>
            <a:pPr algn="l">
              <a:spcAft>
                <a:spcPts val="800"/>
              </a:spcAft>
            </a:pPr>
            <a:r>
              <a:rPr sz="1900" b="0" dirty="0">
                <a:solidFill>
                  <a:srgbClr val="142B4D"/>
                </a:solidFill>
                <a:latin typeface="Arial"/>
              </a:rPr>
              <a:t>•  No significance tests; the RF–XGBoost PR AUC gap (about 0.003) is smaller than the seed sd</a:t>
            </a:r>
          </a:p>
          <a:p>
            <a:pPr algn="l">
              <a:spcAft>
                <a:spcPts val="800"/>
              </a:spcAft>
            </a:pPr>
            <a:r>
              <a:rPr sz="1900" b="0" dirty="0">
                <a:solidFill>
                  <a:srgbClr val="142B4D"/>
                </a:solidFill>
                <a:latin typeface="Arial"/>
              </a:rPr>
              <a:t>•  Only 20 to 109 test positives per endpoint: endpoint-level results are noisy</a:t>
            </a:r>
          </a:p>
          <a:p>
            <a:pPr algn="l">
              <a:spcAft>
                <a:spcPts val="800"/>
              </a:spcAft>
            </a:pPr>
            <a:r>
              <a:rPr sz="1900" b="0" dirty="0">
                <a:solidFill>
                  <a:srgbClr val="142B4D"/>
                </a:solidFill>
                <a:latin typeface="Arial"/>
              </a:rPr>
              <a:t>•  Random and scaffold test sets hold different molecules; the gap is not a controlled leakage measurement</a:t>
            </a:r>
          </a:p>
          <a:p>
            <a:pPr algn="l">
              <a:spcAft>
                <a:spcPts val="800"/>
              </a:spcAft>
            </a:pPr>
            <a:r>
              <a:rPr sz="1900" b="0" dirty="0">
                <a:solidFill>
                  <a:srgbClr val="142B4D"/>
                </a:solidFill>
                <a:latin typeface="Arial"/>
              </a:rPr>
              <a:t>•  Scaffold validation and test contain no acyclic molecules (all 1,753 are in train)</a:t>
            </a:r>
          </a:p>
          <a:p>
            <a:pPr algn="l">
              <a:spcAft>
                <a:spcPts val="800"/>
              </a:spcAft>
            </a:pPr>
            <a:r>
              <a:rPr sz="1900" b="0" dirty="0">
                <a:solidFill>
                  <a:srgbClr val="142B4D"/>
                </a:solidFill>
                <a:latin typeface="Arial"/>
              </a:rPr>
              <a:t>•  Hyperparameters tuned on the scaffold split and reused unchanged on the random split</a:t>
            </a:r>
          </a:p>
          <a:p>
            <a:pPr algn="l">
              <a:spcAft>
                <a:spcPts val="800"/>
              </a:spcAft>
            </a:pPr>
            <a:r>
              <a:rPr sz="1900" b="0" dirty="0">
                <a:solidFill>
                  <a:srgbClr val="142B4D"/>
                </a:solidFill>
                <a:latin typeface="Arial"/>
              </a:rPr>
              <a:t>•  Fingerprints and 2D descriptors only; we did not test why descriptors help tree models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nchor="ctr" lIns="45720" rIns="45720">
            <a:spAutoFit/>
          </a:bodyPr>
          <a:lstStyle/>
          <a:p>
            <a:pPr algn="l">
              <a:spcAft>
                <a:spcPts val="800"/>
              </a:spcAft>
            </a:pPr>
            <a:r>
              <a:rPr sz="3000" b="1" dirty="0">
                <a:solidFill>
                  <a:srgbClr val="142B4D"/>
                </a:solidFill>
                <a:latin typeface="Arial"/>
              </a:rPr>
              <a:t>Team contributions, QA and next steps</a:t>
            </a:r>
          </a:p>
        </p:txBody>
      </p:sp>
      <p:sp>
        <p:nvSpPr>
          <p:cNvPr id="3" name="Rectangle 2"/>
          <p:cNvSpPr/>
          <p:nvPr/>
        </p:nvSpPr>
        <p:spPr>
          <a:xfrm>
            <a:off x="594360" y="1051560"/>
            <a:ext cx="1463040" cy="54864"/>
          </a:xfrm>
          <a:prstGeom prst="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800"/>
              </a:spcAft>
            </a:pPr>
            <a:r>
              <a:rPr sz="1000" b="0" dirty="0">
                <a:solidFill>
                  <a:srgbClr val="555F6B"/>
                </a:solidFill>
                <a:latin typeface="Arial"/>
              </a:rPr>
              <a:t>Tox21 Phase 1  |  classical ML baseline</a:t>
            </a:r>
          </a:p>
        </p:txBody>
      </p:sp>
      <p:sp>
        <p:nvSpPr>
          <p:cNvPr id="5" name="TextBox 4"/>
          <p:cNvSpPr txBox="1"/>
          <p:nvPr/>
        </p:nvSpPr>
        <p:spPr>
          <a:xfrm>
            <a:off x="10881360" y="6446520"/>
            <a:ext cx="822960" cy="274320"/>
          </a:xfrm>
          <a:prstGeom prst="rect">
            <a:avLst/>
          </a:prstGeom>
          <a:noFill/>
        </p:spPr>
        <p:txBody>
          <a:bodyPr wrap="square" anchor="t" lIns="45720" rIns="45720">
            <a:spAutoFit/>
          </a:bodyPr>
          <a:lstStyle/>
          <a:p>
            <a:pPr algn="r">
              <a:spcAft>
                <a:spcPts val="800"/>
              </a:spcAft>
            </a:pPr>
            <a:r>
              <a:rPr sz="1000" b="0" dirty="0">
                <a:solidFill>
                  <a:srgbClr val="555F6B"/>
                </a:solidFill>
                <a:latin typeface="Arial"/>
              </a:rPr>
              <a:t>13</a:t>
            </a:r>
          </a:p>
        </p:txBody>
      </p:sp>
      <p:graphicFrame>
        <p:nvGraphicFramePr>
          <p:cNvPr id="6" name="Table 5"/>
          <p:cNvGraphicFramePr>
            <a:graphicFrameLocks noGrp="1"/>
          </p:cNvGraphicFramePr>
          <p:nvPr/>
        </p:nvGraphicFramePr>
        <p:xfrm>
          <a:off x="548640" y="1371600"/>
          <a:ext cx="11064240" cy="3017520"/>
        </p:xfrm>
        <a:graphic>
          <a:graphicData uri="http://schemas.openxmlformats.org/drawingml/2006/table">
            <a:tbl>
              <a:tblPr firstRow="1" bandRow="1">
                <a:tableStyleId>{5C22544A-7EE6-4342-B048-85BDC9FD1C3A}</a:tableStyleId>
              </a:tblPr>
              <a:tblGrid>
                <a:gridCol w="2011680"/>
                <a:gridCol w="9052560"/>
              </a:tblGrid>
              <a:tr h="502920">
                <a:tc>
                  <a:txBody>
                    <a:bodyPr wrap="square"/>
                    <a:lstStyle/>
                    <a:p>
                      <a:pPr algn="l"/>
                      <a:r>
                        <a:rPr sz="1600" b="1" dirty="0">
                          <a:solidFill>
                            <a:srgbClr val="FFFFFF"/>
                          </a:solidFill>
                          <a:latin typeface="Arial"/>
                        </a:rPr>
                        <a:t>Member</a:t>
                      </a:r>
                    </a:p>
                  </a:txBody>
                  <a:tcPr marL="54864" marR="54864" marT="18288" marB="18288" anchor="ctr">
                    <a:solidFill>
                      <a:srgbClr val="142B4D"/>
                    </a:solidFill>
                  </a:tcPr>
                </a:tc>
                <a:tc>
                  <a:txBody>
                    <a:bodyPr wrap="square"/>
                    <a:lstStyle/>
                    <a:p>
                      <a:pPr algn="ctr"/>
                      <a:r>
                        <a:rPr sz="1600" b="1" dirty="0">
                          <a:solidFill>
                            <a:srgbClr val="FFFFFF"/>
                          </a:solidFill>
                          <a:latin typeface="Arial"/>
                        </a:rPr>
                        <a:t>Contribution</a:t>
                      </a:r>
                    </a:p>
                  </a:txBody>
                  <a:tcPr marL="54864" marR="54864" marT="18288" marB="18288" anchor="ctr">
                    <a:solidFill>
                      <a:srgbClr val="142B4D"/>
                    </a:solidFill>
                  </a:tcPr>
                </a:tc>
              </a:tr>
              <a:tr h="502920">
                <a:tc>
                  <a:txBody>
                    <a:bodyPr wrap="square"/>
                    <a:lstStyle/>
                    <a:p>
                      <a:pPr algn="l"/>
                      <a:r>
                        <a:rPr sz="1600" b="0" dirty="0">
                          <a:solidFill>
                            <a:srgbClr val="142B4D"/>
                          </a:solidFill>
                          <a:latin typeface="Arial"/>
                        </a:rPr>
                        <a:t>Raghav</a:t>
                      </a:r>
                    </a:p>
                  </a:txBody>
                  <a:tcPr marL="54864" marR="54864" marT="18288" marB="18288" anchor="ctr">
                    <a:solidFill>
                      <a:srgbClr val="EAF3F5"/>
                    </a:solidFill>
                  </a:tcPr>
                </a:tc>
                <a:tc>
                  <a:txBody>
                    <a:bodyPr wrap="square"/>
                    <a:lstStyle/>
                    <a:p>
                      <a:pPr algn="ctr"/>
                      <a:r>
                        <a:rPr sz="1600" b="0" dirty="0">
                          <a:solidFill>
                            <a:srgbClr val="142B4D"/>
                          </a:solidFill>
                          <a:latin typeface="Arial"/>
                        </a:rPr>
                        <a:t>Data cleaning and deduplication, EDA, scaffold and random splits, Logistic Regression</a:t>
                      </a:r>
                    </a:p>
                  </a:txBody>
                  <a:tcPr marL="54864" marR="54864" marT="18288" marB="18288" anchor="ctr">
                    <a:solidFill>
                      <a:srgbClr val="EAF3F5"/>
                    </a:solidFill>
                  </a:tcPr>
                </a:tc>
              </a:tr>
              <a:tr h="502920">
                <a:tc>
                  <a:txBody>
                    <a:bodyPr wrap="square"/>
                    <a:lstStyle/>
                    <a:p>
                      <a:pPr algn="l"/>
                      <a:r>
                        <a:rPr sz="1600" b="0" dirty="0">
                          <a:solidFill>
                            <a:srgbClr val="142B4D"/>
                          </a:solidFill>
                          <a:latin typeface="Arial"/>
                        </a:rPr>
                        <a:t>Ranajeet</a:t>
                      </a:r>
                    </a:p>
                  </a:txBody>
                  <a:tcPr marL="54864" marR="54864" marT="18288" marB="18288" anchor="ctr">
                    <a:solidFill>
                      <a:srgbClr val="FFFFFF"/>
                    </a:solidFill>
                  </a:tcPr>
                </a:tc>
                <a:tc>
                  <a:txBody>
                    <a:bodyPr wrap="square"/>
                    <a:lstStyle/>
                    <a:p>
                      <a:pPr algn="ctr"/>
                      <a:r>
                        <a:rPr sz="1600" b="0" dirty="0">
                          <a:solidFill>
                            <a:srgbClr val="142B4D"/>
                          </a:solidFill>
                          <a:latin typeface="Arial"/>
                        </a:rPr>
                        <a:t>Morgan fingerprints, RDKit descriptors, leak-free preprocessing, Random Forest</a:t>
                      </a:r>
                    </a:p>
                  </a:txBody>
                  <a:tcPr marL="54864" marR="54864" marT="18288" marB="18288" anchor="ctr">
                    <a:solidFill>
                      <a:srgbClr val="FFFFFF"/>
                    </a:solidFill>
                  </a:tcPr>
                </a:tc>
              </a:tr>
              <a:tr h="502920">
                <a:tc>
                  <a:txBody>
                    <a:bodyPr wrap="square"/>
                    <a:lstStyle/>
                    <a:p>
                      <a:pPr algn="l"/>
                      <a:r>
                        <a:rPr sz="1600" b="0" dirty="0">
                          <a:solidFill>
                            <a:srgbClr val="142B4D"/>
                          </a:solidFill>
                          <a:latin typeface="Arial"/>
                        </a:rPr>
                        <a:t>Parrv</a:t>
                      </a:r>
                    </a:p>
                  </a:txBody>
                  <a:tcPr marL="54864" marR="54864" marT="18288" marB="18288" anchor="ctr">
                    <a:solidFill>
                      <a:srgbClr val="EAF3F5"/>
                    </a:solidFill>
                  </a:tcPr>
                </a:tc>
                <a:tc>
                  <a:txBody>
                    <a:bodyPr wrap="square"/>
                    <a:lstStyle/>
                    <a:p>
                      <a:pPr algn="ctr"/>
                      <a:r>
                        <a:rPr sz="1600" b="0" dirty="0">
                          <a:solidFill>
                            <a:srgbClr val="142B4D"/>
                          </a:solidFill>
                          <a:latin typeface="Arial"/>
                        </a:rPr>
                        <a:t>Repository and contract, evaluation harness, XGBoost, tuning and final-test scripts</a:t>
                      </a:r>
                    </a:p>
                  </a:txBody>
                  <a:tcPr marL="54864" marR="54864" marT="18288" marB="18288" anchor="ctr">
                    <a:solidFill>
                      <a:srgbClr val="EAF3F5"/>
                    </a:solidFill>
                  </a:tcPr>
                </a:tc>
              </a:tr>
              <a:tr h="502920">
                <a:tc>
                  <a:txBody>
                    <a:bodyPr wrap="square"/>
                    <a:lstStyle/>
                    <a:p>
                      <a:pPr algn="l"/>
                      <a:r>
                        <a:rPr sz="1600" b="0" dirty="0">
                          <a:solidFill>
                            <a:srgbClr val="142B4D"/>
                          </a:solidFill>
                          <a:latin typeface="Arial"/>
                        </a:rPr>
                        <a:t>Abhijeet</a:t>
                      </a:r>
                    </a:p>
                  </a:txBody>
                  <a:tcPr marL="54864" marR="54864" marT="18288" marB="18288" anchor="ctr">
                    <a:solidFill>
                      <a:srgbClr val="FFFFFF"/>
                    </a:solidFill>
                  </a:tcPr>
                </a:tc>
                <a:tc>
                  <a:txBody>
                    <a:bodyPr wrap="square"/>
                    <a:lstStyle/>
                    <a:p>
                      <a:pPr algn="ctr"/>
                      <a:r>
                        <a:rPr sz="1600" b="0" dirty="0">
                          <a:solidFill>
                            <a:srgbClr val="142B4D"/>
                          </a:solidFill>
                          <a:latin typeface="Arial"/>
                        </a:rPr>
                        <a:t>Literature review, theory, results analysis, Tanimoto study, report</a:t>
                      </a:r>
                    </a:p>
                  </a:txBody>
                  <a:tcPr marL="54864" marR="54864" marT="18288" marB="18288" anchor="ctr">
                    <a:solidFill>
                      <a:srgbClr val="FFFFFF"/>
                    </a:solidFill>
                  </a:tcPr>
                </a:tc>
              </a:tr>
              <a:tr h="502920">
                <a:tc>
                  <a:txBody>
                    <a:bodyPr wrap="square"/>
                    <a:lstStyle/>
                    <a:p>
                      <a:pPr algn="l"/>
                      <a:r>
                        <a:rPr sz="1600" b="0" dirty="0">
                          <a:solidFill>
                            <a:srgbClr val="142B4D"/>
                          </a:solidFill>
                          <a:latin typeface="Arial"/>
                        </a:rPr>
                        <a:t>Malhar (Member 5)</a:t>
                      </a:r>
                    </a:p>
                  </a:txBody>
                  <a:tcPr marL="54864" marR="54864" marT="18288" marB="18288" anchor="ctr">
                    <a:solidFill>
                      <a:srgbClr val="EAF3F5"/>
                    </a:solidFill>
                  </a:tcPr>
                </a:tc>
                <a:tc>
                  <a:txBody>
                    <a:bodyPr wrap="square"/>
                    <a:lstStyle/>
                    <a:p>
                      <a:pPr algn="ctr"/>
                      <a:r>
                        <a:rPr sz="1600" b="0" dirty="0">
                          <a:solidFill>
                            <a:srgbClr val="142B4D"/>
                          </a:solidFill>
                          <a:latin typeface="Arial"/>
                        </a:rPr>
                        <a:t>README and slide polish, tests, QA communication, viva preparation</a:t>
                      </a:r>
                    </a:p>
                  </a:txBody>
                  <a:tcPr marL="54864" marR="54864" marT="18288" marB="18288" anchor="ctr">
                    <a:solidFill>
                      <a:srgbClr val="EAF3F5"/>
                    </a:solidFill>
                  </a:tcPr>
                </a:tc>
              </a:tr>
            </a:tbl>
          </a:graphicData>
        </a:graphic>
      </p:graphicFrame>
      <p:sp>
        <p:nvSpPr>
          <p:cNvPr id="7" name="Rounded Rectangle 6"/>
          <p:cNvSpPr/>
          <p:nvPr/>
        </p:nvSpPr>
        <p:spPr>
          <a:xfrm>
            <a:off x="548640" y="4663440"/>
            <a:ext cx="3520440" cy="1325880"/>
          </a:xfrm>
          <a:prstGeom prst="roundRect">
            <a:avLst/>
          </a:prstGeom>
          <a:solidFill>
            <a:srgbClr val="1B7F8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dirty="0">
                <a:solidFill>
                  <a:srgbClr val="FFFFFF"/>
                </a:solidFill>
                <a:latin typeface="Arial"/>
              </a:rPr>
              <a:t>QA RECORD</a:t>
            </a:r>
          </a:p>
          <a:p>
            <a:pPr algn="ctr"/>
            <a:r>
              <a:rPr sz="1200" b="0" dirty="0">
                <a:solidFill>
                  <a:srgbClr val="FFFFFF"/>
                </a:solidFill>
                <a:latin typeface="Arial"/>
              </a:rPr>
              <a:t>Smoke test and 432-row reproduction documented in the QA report</a:t>
            </a:r>
          </a:p>
        </p:txBody>
      </p:sp>
      <p:sp>
        <p:nvSpPr>
          <p:cNvPr id="8" name="Rounded Rectangle 7"/>
          <p:cNvSpPr/>
          <p:nvPr/>
        </p:nvSpPr>
        <p:spPr>
          <a:xfrm>
            <a:off x="4343400" y="4663440"/>
            <a:ext cx="3520440" cy="1325880"/>
          </a:xfrm>
          <a:prstGeom prst="roundRect">
            <a:avLst/>
          </a:prstGeom>
          <a:solidFill>
            <a:srgbClr val="142B4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dirty="0">
                <a:solidFill>
                  <a:srgbClr val="FFFFFF"/>
                </a:solidFill>
                <a:latin typeface="Arial"/>
              </a:rPr>
              <a:t>MEMBER 5 FOCUS</a:t>
            </a:r>
          </a:p>
          <a:p>
            <a:pPr algn="ctr"/>
            <a:r>
              <a:rPr sz="1200" b="0" dirty="0">
                <a:solidFill>
                  <a:srgbClr val="FFFFFF"/>
                </a:solidFill>
                <a:latin typeface="Arial"/>
              </a:rPr>
              <a:t>README and slides, verification notes, viva preparation</a:t>
            </a:r>
          </a:p>
        </p:txBody>
      </p:sp>
      <p:sp>
        <p:nvSpPr>
          <p:cNvPr id="9" name="Rounded Rectangle 8"/>
          <p:cNvSpPr/>
          <p:nvPr/>
        </p:nvSpPr>
        <p:spPr>
          <a:xfrm>
            <a:off x="8138160" y="4663440"/>
            <a:ext cx="3520440" cy="1325880"/>
          </a:xfrm>
          <a:prstGeom prst="roundRect">
            <a:avLst/>
          </a:prstGeom>
          <a:solidFill>
            <a:srgbClr val="B23A3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dirty="0">
                <a:solidFill>
                  <a:srgbClr val="FFFFFF"/>
                </a:solidFill>
                <a:latin typeface="Arial"/>
              </a:rPr>
              <a:t>OPEN ITEMS</a:t>
            </a:r>
          </a:p>
          <a:p>
            <a:pPr algn="ctr"/>
            <a:r>
              <a:rPr sz="1200" b="0" dirty="0">
                <a:solidFill>
                  <a:srgbClr val="FFFFFF"/>
                </a:solidFill>
                <a:latin typeface="Arial"/>
              </a:rPr>
              <a:t>Viva drill pending; 01_eda notebook uses a Colab path</a:t>
            </a:r>
          </a:p>
        </p:txBody>
      </p:sp>
    </p:spTree>
  </p:cSld>
  <p:clrMapOvr>
    <a:masterClrMapping/>
  </p:clrMapOvr>
</p:sld>
</file>

<file path=ppt/theme/theme1.xml><?xml version="1.0" encoding="utf-8"?>
<a:theme xmlns:a="http://schemas.openxmlformats.org/drawingml/2006/main" name="Office Theme">
  <a:themeElements>
    <a:clrScheme name="Office">
      <a:dk1>
        <a:srgbClr val="142B4D"/>
      </a:dk1>
      <a:lt1>
        <a:srgbClr val="FFFFFF"/>
      </a:lt1>
      <a:dk2>
        <a:srgbClr val="142B4D"/>
      </a:dk2>
      <a:lt2>
        <a:srgbClr val="EAF3F5"/>
      </a:lt2>
      <a:accent1>
        <a:srgbClr val="1B7F8C"/>
      </a:accent1>
      <a:accent2>
        <a:srgbClr val="B23A3A"/>
      </a:accent2>
      <a:accent3>
        <a:srgbClr val="555F6B"/>
      </a:accent3>
      <a:accent4>
        <a:srgbClr val="BFE3E8"/>
      </a:accent4>
      <a:accent5>
        <a:srgbClr val="88B8BD"/>
      </a:accent5>
      <a:accent6>
        <a:srgbClr val="F2C9C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Tox21 Phase 1: Molecular Toxicity Prediction</dc:title>
  <dc:subject>Reproducible classical machine learning benchmark on 12 Tox21 assays</dc:subject>
  <dc:creator>Molecular Toxicity Prediction Team</dc:creator>
  <cp:keywords>Tox21, toxicity prediction, molecular fingerprints, RDKit, machine learning</cp:keywords>
  <dc:description>Phase 1 benchmark comparing Logistic Regression, Random Forest and XGBoost with Morgan fingerprints and RDKit descriptors under scaffold and random splits.</dc:description>
  <cp:lastModifiedBy>Molecular Toxicity Prediction Team</cp:lastModifiedBy>
  <cp:revision>1</cp:revision>
  <dcterms:created xsi:type="dcterms:W3CDTF">2013-01-27T09:14:16Z</dcterms:created>
  <dcterms:modified xsi:type="dcterms:W3CDTF">2013-01-27T09:15:58Z</dcterms:modified>
  <cp:category>Computational toxicology</cp:category>
</cp:coreProperties>
</file>